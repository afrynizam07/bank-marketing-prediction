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Times New Roman" panose="02020603050405020304" pitchFamily="18" charset="0"/>
                <a:cs typeface="Times New Roman" panose="02020603050405020304" pitchFamily="18" charset="0"/>
              </a:defRPr>
            </a:pPr>
            <a:r>
              <a:rPr lang="en-GB" sz="1400" b="0" i="0" u="none" strike="noStrike">
                <a:solidFill>
                  <a:srgbClr val="1E2761"/>
                </a:solidFill>
                <a:latin typeface="Times New Roman" panose="02020603050405020304" pitchFamily="18" charset="0"/>
                <a:cs typeface="Times New Roman" panose="02020603050405020304" pitchFamily="18" charset="0"/>
              </a:rPr>
              <a:t>Logistic Regression vs Decision Tree (%)</a:t>
            </a:r>
          </a:p>
        </c:rich>
      </c:tx>
      <c:layout>
        <c:manualLayout>
          <c:xMode val="edge"/>
          <c:yMode val="edge"/>
          <c:x val="0.26233857651596365"/>
          <c:y val="1.5432098765432098E-2"/>
        </c:manualLayout>
      </c:layout>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1E2761"/>
            </a:solidFill>
            <a:effectLst/>
          </c:spPr>
          <c:invertIfNegative val="0"/>
          <c:dLbls>
            <c:dLbl>
              <c:idx val="0"/>
              <c:layout>
                <c:manualLayout>
                  <c:x val="0"/>
                  <c:y val="0"/>
                </c:manualLayout>
              </c:layout>
              <c:tx>
                <c:rich>
                  <a:bodyPr/>
                  <a:lstStyle/>
                  <a:p>
                    <a:r>
                      <a:rPr lang="en-US" dirty="0"/>
                      <a:t>96.80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C49-4A8C-A027-962FF32451D8}"/>
                </c:ext>
              </c:extLst>
            </c:dLbl>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Sheet1!$B$2:$B$5</c:f>
              <c:numCache>
                <c:formatCode>General</c:formatCode>
                <c:ptCount val="4"/>
                <c:pt idx="0">
                  <c:v>96.8</c:v>
                </c:pt>
                <c:pt idx="1">
                  <c:v>55</c:v>
                </c:pt>
                <c:pt idx="2">
                  <c:v>27</c:v>
                </c:pt>
                <c:pt idx="3">
                  <c:v>36</c:v>
                </c:pt>
              </c:numCache>
            </c:numRef>
          </c:val>
          <c:extLst>
            <c:ext xmlns:c16="http://schemas.microsoft.com/office/drawing/2014/chart" uri="{C3380CC4-5D6E-409C-BE32-E72D297353CC}">
              <c16:uniqueId val="{00000000-316B-4FF6-9185-2ACFE311577F}"/>
            </c:ext>
          </c:extLst>
        </c:ser>
        <c:ser>
          <c:idx val="1"/>
          <c:order val="1"/>
          <c:tx>
            <c:strRef>
              <c:f>Sheet1!$C$1</c:f>
              <c:strCache>
                <c:ptCount val="1"/>
                <c:pt idx="0">
                  <c:v>Decision Tree</c:v>
                </c:pt>
              </c:strCache>
            </c:strRef>
          </c:tx>
          <c:spPr>
            <a:solidFill>
              <a:srgbClr val="C9A227"/>
            </a:solidFill>
            <a:effectLst/>
          </c:spPr>
          <c:invertIfNegative val="0"/>
          <c:dLbls>
            <c:dLbl>
              <c:idx val="0"/>
              <c:tx>
                <c:rich>
                  <a:bodyPr/>
                  <a:lstStyle/>
                  <a:p>
                    <a:r>
                      <a:rPr lang="en-US"/>
                      <a:t>96.66</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C49-4A8C-A027-962FF32451D8}"/>
                </c:ext>
              </c:extLst>
            </c:dLbl>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Sheet1!$C$2:$C$5</c:f>
              <c:numCache>
                <c:formatCode>General</c:formatCode>
                <c:ptCount val="4"/>
                <c:pt idx="0">
                  <c:v>96.65</c:v>
                </c:pt>
                <c:pt idx="1">
                  <c:v>50</c:v>
                </c:pt>
                <c:pt idx="2">
                  <c:v>1</c:v>
                </c:pt>
                <c:pt idx="3">
                  <c:v>3</c:v>
                </c:pt>
              </c:numCache>
            </c:numRef>
          </c:val>
          <c:extLst>
            <c:ext xmlns:c16="http://schemas.microsoft.com/office/drawing/2014/chart" uri="{C3380CC4-5D6E-409C-BE32-E72D297353CC}">
              <c16:uniqueId val="{00000001-316B-4FF6-9185-2ACFE311577F}"/>
            </c:ext>
          </c:extLst>
        </c:ser>
        <c:dLbls>
          <c:showLegendKey val="0"/>
          <c:showVal val="0"/>
          <c:showCatName val="0"/>
          <c:showSerName val="0"/>
          <c:showPercent val="0"/>
          <c:showBubbleSize val="0"/>
        </c:dLbls>
        <c:gapWidth val="35"/>
        <c:overlap val="-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C"/>
                </a:solidFill>
                <a:latin typeface="Arial"/>
              </a:defRPr>
            </a:pPr>
            <a:endParaRPr lang="en-US"/>
          </a:p>
        </c:txPr>
        <c:crossAx val="2094734552"/>
        <c:crosses val="autoZero"/>
        <c:auto val="1"/>
        <c:lblAlgn val="ctr"/>
        <c:lblOffset val="100"/>
        <c:noMultiLvlLbl val="1"/>
      </c:catAx>
      <c:valAx>
        <c:axId val="2094734552"/>
        <c:scaling>
          <c:orientation val="minMax"/>
          <c:max val="110"/>
        </c:scaling>
        <c:delete val="0"/>
        <c:axPos val="l"/>
        <c:majorGridlines>
          <c:spPr>
            <a:ln w="12700" cap="flat">
              <a:solidFill>
                <a:srgbClr val="E4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B8C"/>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213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looks at machine learning and its role in financial analytics and customer insight systems. It uses the Bank Data Set as a real, practical example, comparing two models that were built in Part 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is part of artificial intelligence. It lets a computer learn patterns from data and make predictions or decisions, instead of following a fixed rule for every single case (James et al., 2021).
In financial analytics, machine learning can help a company understand customer behaviour, spot risks, and predict what may happen next. In this presentation, the Bank Data Set is used as a real example of how machine learning can predict whether a customer is likely to open a term deposit.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normal programming, a person writes the rules that turn data into an output. Machine learning works in a different way. The computer is given past data and the known outcomes, and it learns the pattern by itself.
For example, in the Bank Data Set, the customer details and past campaign details are the input. The target column, called y, shows whether the customer subscribed or not.
The model learns using training data, then is tested on new data it has not seen before. This split matters, because testing the model on data it already learned from would give a false, too-good result (Pedregosa et al., 2011).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problems can be split into different types.
Classification predicts a category. The Bank Data Set is a classification problem, because the target is always yes or no.
Regression predicts a number, such as the future price of a financial asset.
Clustering is an unsupervised method that groups similar records together, without needing labels first. For example, a bank could group customers by their spending habits.
Optimisation focuses on picking the best solution when there are limits. In finance, this could mean using resources or money in the best possible way.
These four types let a financial organisation choose the right method for each business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part of Part A, two machine learning models were built using the Bank Data Set in Google Colab.
The dataset has 10,000 customers and 21 columns of information. The target shows whether a customer subscribed to a term deposit.
A big problem was class imbalance. Only 334 customers said yes, while 9,666 said no. This means only 3.34% of customers were in the yes group.
Two models, Logistic Regression and Decision Tree, were compared using the same data. 80% of the data was used to train the models and 20% to test them - that is 8,000 customers for training and 2,000 for testing.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results show why we should not judge a model by accuracy alone.
Logistic Regression scored 96.80% accuracy. Decision Tree scored 96.65%. At first these numbers look almost the same.
But the data is very imbalanced. Even a model that always guesses no would score about 96.66% accuracy. So a high accuracy score does not mean the model is actually good at finding real subscribers.
The real difference shows up in recall. Logistic Regression found 27% of the real subscribers. Decision Tree found only 1%. Out of 67 real subscribers in the test data, Logistic Regression correctly found 18, but Decision Tree found only 1.
This shows why precision, recall and F1-score matter more than accuracy, when we care about finding a small group like actual subscribers.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can help banks in many ways. It can predict how customers will respond, check credit risk, catch fraud, group customers, and improve marketing.
For customer insight, machine learning studies customer details and past behaviour to find patterns. A bank can use this to send the right marketing message to the right customer.
Still, predictions should help humans decide, not replace them. And predictions are only as good as the data used to build the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brings big benefits, but also risks.
In our bank experiment, class imbalance had a strong effect on the results. This shows that a high accuracy score can hide poor results for a smaller group.
Banks must protect customer privacy, since the data can include sensitive personal and money details. Models should be built and used carefully, with proper control over who can access the data.
Fairness matters too. If old data has bias in it, the model can repeat or even increase that bias. Banks should check their models for unfair results and keep humans checking the process.
Transparency matters as well. Customers and staff may want to know why the model made a certain prediction.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machine learning can support smart decisions in finance by finding patterns and making predictions from past data.
The Bank Data Set experiment showed that we must think about the goal of the prediction, not just accuracy. Both models scored over 96% accuracy, but Logistic Regression was much better at finding real subscribers, with 27% recall compared to only 1% for Decision Tree.
Still, neither model is ready for real use, because both missed many real subscribers. Future work should try class weighting, methods like SMOTE, better tuning, and other algorithms.
The main lesson is simple: the best model is not always the one with the highest accuracy. It is the one that truly meets the business goal, while also being fair, clear and responsible.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5F7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6248095" y="45720"/>
            <a:ext cx="5943600" cy="5943600"/>
          </a:xfrm>
          <a:prstGeom prst="ellipse">
            <a:avLst/>
          </a:prstGeom>
          <a:solidFill>
            <a:srgbClr val="263578"/>
          </a:solidFill>
          <a:ln/>
        </p:spPr>
      </p:sp>
      <p:sp>
        <p:nvSpPr>
          <p:cNvPr id="4" name="Shape 2"/>
          <p:cNvSpPr/>
          <p:nvPr/>
        </p:nvSpPr>
        <p:spPr>
          <a:xfrm>
            <a:off x="182880" y="3383280"/>
            <a:ext cx="3291840" cy="3291840"/>
          </a:xfrm>
          <a:prstGeom prst="ellipse">
            <a:avLst/>
          </a:prstGeom>
          <a:solidFill>
            <a:srgbClr val="263578"/>
          </a:solidFill>
          <a:ln/>
        </p:spPr>
      </p:sp>
      <p:pic>
        <p:nvPicPr>
          <p:cNvPr id="5" name="Image 0" descr="icons/bank_gold.png"/>
          <p:cNvPicPr>
            <a:picLocks noChangeAspect="1"/>
          </p:cNvPicPr>
          <p:nvPr/>
        </p:nvPicPr>
        <p:blipFill>
          <a:blip r:embed="rId3"/>
          <a:stretch>
            <a:fillRect/>
          </a:stretch>
        </p:blipFill>
        <p:spPr>
          <a:xfrm>
            <a:off x="822960" y="731520"/>
            <a:ext cx="640080" cy="640080"/>
          </a:xfrm>
          <a:prstGeom prst="rect">
            <a:avLst/>
          </a:prstGeom>
        </p:spPr>
      </p:pic>
      <p:sp>
        <p:nvSpPr>
          <p:cNvPr id="6" name="Text 3"/>
          <p:cNvSpPr/>
          <p:nvPr/>
        </p:nvSpPr>
        <p:spPr>
          <a:xfrm>
            <a:off x="158312" y="1414521"/>
            <a:ext cx="2348516" cy="365760"/>
          </a:xfrm>
          <a:prstGeom prst="rect">
            <a:avLst/>
          </a:prstGeom>
          <a:noFill/>
          <a:ln/>
        </p:spPr>
        <p:txBody>
          <a:bodyPr wrap="square" rtlCol="0" anchor="ctr"/>
          <a:lstStyle/>
          <a:p>
            <a:pPr marL="0" indent="0">
              <a:buNone/>
            </a:pPr>
            <a:r>
              <a:rPr lang="en-US" sz="1400" b="1" kern="0" spc="300" dirty="0">
                <a:solidFill>
                  <a:srgbClr val="C9A227"/>
                </a:solidFill>
                <a:latin typeface="Arial Rounded MT Bold" panose="020F0704030504030204" pitchFamily="34" charset="0"/>
                <a:ea typeface="Calibri" pitchFamily="34" charset="-122"/>
                <a:cs typeface="Calibri" pitchFamily="34" charset="-120"/>
              </a:rPr>
              <a:t>Machine Learning</a:t>
            </a:r>
            <a:endParaRPr lang="en-US" sz="1400" dirty="0">
              <a:latin typeface="Arial Rounded MT Bold" panose="020F0704030504030204" pitchFamily="34" charset="0"/>
            </a:endParaRPr>
          </a:p>
        </p:txBody>
      </p:sp>
      <p:sp>
        <p:nvSpPr>
          <p:cNvPr id="7" name="Text 4"/>
          <p:cNvSpPr/>
          <p:nvPr/>
        </p:nvSpPr>
        <p:spPr>
          <a:xfrm>
            <a:off x="777240" y="1965960"/>
            <a:ext cx="9875520" cy="192024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Machine Learning in Financial</a:t>
            </a:r>
            <a:endParaRPr lang="en-US" sz="4000" b="1"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Analytics and Customer Insight</a:t>
            </a:r>
            <a:endParaRPr lang="en-US" sz="4000" b="1" dirty="0"/>
          </a:p>
        </p:txBody>
      </p:sp>
      <p:sp>
        <p:nvSpPr>
          <p:cNvPr id="8" name="Text 5"/>
          <p:cNvSpPr/>
          <p:nvPr/>
        </p:nvSpPr>
        <p:spPr>
          <a:xfrm>
            <a:off x="822960" y="3977640"/>
            <a:ext cx="8686800" cy="8229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 practical look at how machine learning helps banks understand customers,</a:t>
            </a:r>
            <a:endParaRPr lang="en-US" sz="1600" dirty="0"/>
          </a:p>
          <a:p>
            <a:pPr marL="0" indent="0">
              <a:buNone/>
            </a:pPr>
            <a:r>
              <a:rPr lang="en-US" sz="1600" i="1" dirty="0">
                <a:solidFill>
                  <a:srgbClr val="CADCFC"/>
                </a:solidFill>
                <a:latin typeface="Calibri" pitchFamily="34" charset="0"/>
                <a:ea typeface="Calibri" pitchFamily="34" charset="-122"/>
                <a:cs typeface="Calibri" pitchFamily="34" charset="-120"/>
              </a:rPr>
              <a:t>using the Bank Data Set to compare two real models.</a:t>
            </a:r>
            <a:endParaRPr lang="en-US" sz="1600" dirty="0"/>
          </a:p>
        </p:txBody>
      </p:sp>
      <p:sp>
        <p:nvSpPr>
          <p:cNvPr id="9" name="Shape 6"/>
          <p:cNvSpPr/>
          <p:nvPr/>
        </p:nvSpPr>
        <p:spPr>
          <a:xfrm>
            <a:off x="822959" y="4892040"/>
            <a:ext cx="2520875" cy="0"/>
          </a:xfrm>
          <a:prstGeom prst="line">
            <a:avLst/>
          </a:prstGeom>
          <a:noFill/>
          <a:ln w="25400">
            <a:solidFill>
              <a:srgbClr val="C9A227"/>
            </a:solidFill>
            <a:prstDash val="solid"/>
          </a:ln>
        </p:spPr>
      </p:sp>
      <p:sp>
        <p:nvSpPr>
          <p:cNvPr id="10" name="Text 7"/>
          <p:cNvSpPr/>
          <p:nvPr/>
        </p:nvSpPr>
        <p:spPr>
          <a:xfrm>
            <a:off x="777240" y="5987920"/>
            <a:ext cx="8229600" cy="365760"/>
          </a:xfrm>
          <a:prstGeom prst="rect">
            <a:avLst/>
          </a:prstGeom>
          <a:noFill/>
          <a:ln/>
        </p:spPr>
        <p:txBody>
          <a:bodyPr wrap="square" rtlCol="0" anchor="ctr"/>
          <a:lstStyle/>
          <a:p>
            <a:pPr marL="0" indent="0">
              <a:buNone/>
            </a:pPr>
            <a:r>
              <a:rPr lang="en-US" sz="1300" dirty="0">
                <a:solidFill>
                  <a:srgbClr val="9AA6C4"/>
                </a:solidFill>
                <a:latin typeface="Calibri" pitchFamily="34" charset="0"/>
                <a:ea typeface="Calibri" pitchFamily="34" charset="-122"/>
                <a:cs typeface="Calibri" pitchFamily="34" charset="-120"/>
              </a:rPr>
              <a:t>Bank Data Set  •  Google Colab  •  Logistic Regression vs Decision Tree</a:t>
            </a:r>
            <a:endParaRPr lang="en-US" sz="1300" dirty="0"/>
          </a:p>
        </p:txBody>
      </p:sp>
      <p:sp>
        <p:nvSpPr>
          <p:cNvPr id="13" name="Text 9"/>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8894BE"/>
                </a:solidFill>
                <a:latin typeface="Calibri" pitchFamily="34" charset="0"/>
                <a:ea typeface="Calibri" pitchFamily="34" charset="-122"/>
                <a:cs typeface="Calibri" pitchFamily="34" charset="-120"/>
              </a:rPr>
              <a:t>1</a:t>
            </a:r>
            <a:endParaRPr lang="en-US" sz="1000" dirty="0"/>
          </a:p>
        </p:txBody>
      </p:sp>
      <p:sp>
        <p:nvSpPr>
          <p:cNvPr id="12" name="Text 8">
            <a:extLst>
              <a:ext uri="{FF2B5EF4-FFF2-40B4-BE49-F238E27FC236}">
                <a16:creationId xmlns:a16="http://schemas.microsoft.com/office/drawing/2014/main" id="{E8E9FADF-4720-4897-B348-A0EF77C5898C}"/>
              </a:ext>
            </a:extLst>
          </p:cNvPr>
          <p:cNvSpPr/>
          <p:nvPr/>
        </p:nvSpPr>
        <p:spPr>
          <a:xfrm>
            <a:off x="777240" y="5074866"/>
            <a:ext cx="7315200" cy="365760"/>
          </a:xfrm>
          <a:prstGeom prst="rect">
            <a:avLst/>
          </a:prstGeom>
          <a:noFill/>
          <a:ln/>
        </p:spPr>
        <p:txBody>
          <a:bodyPr wrap="square" rtlCol="0" anchor="ctr"/>
          <a:lstStyle/>
          <a:p>
            <a:pPr marL="0" indent="0">
              <a:buNone/>
            </a:pPr>
            <a:r>
              <a:rPr lang="en-US" dirty="0">
                <a:solidFill>
                  <a:srgbClr val="CADCFC"/>
                </a:solidFill>
                <a:latin typeface="Times New Roman" panose="02020603050405020304" pitchFamily="18" charset="0"/>
                <a:ea typeface="Calibri" pitchFamily="34" charset="-122"/>
                <a:cs typeface="Times New Roman" panose="02020603050405020304" pitchFamily="18" charset="0"/>
              </a:rPr>
              <a:t>Presented by  </a:t>
            </a:r>
            <a:r>
              <a:rPr lang="en-US" b="1">
                <a:solidFill>
                  <a:schemeClr val="accent1">
                    <a:lumMod val="20000"/>
                    <a:lumOff val="80000"/>
                  </a:schemeClr>
                </a:solidFill>
                <a:latin typeface="Times New Roman" panose="02020603050405020304" pitchFamily="18" charset="0"/>
                <a:ea typeface="Calibri" pitchFamily="34" charset="-122"/>
                <a:cs typeface="Times New Roman" panose="02020603050405020304" pitchFamily="18" charset="0"/>
              </a:rPr>
              <a:t>Afry Nizam</a:t>
            </a:r>
            <a:endParaRPr lang="en-US" dirty="0">
              <a:solidFill>
                <a:schemeClr val="accent1">
                  <a:lumMod val="20000"/>
                  <a:lumOff val="80000"/>
                </a:schemeClr>
              </a:solidFill>
              <a:latin typeface="Times New Roman" panose="02020603050405020304" pitchFamily="18" charset="0"/>
              <a:cs typeface="Times New Roman" panose="02020603050405020304" pitchFamily="18" charset="0"/>
            </a:endParaRPr>
          </a:p>
        </p:txBody>
      </p:sp>
      <p:sp>
        <p:nvSpPr>
          <p:cNvPr id="14" name="Text 9">
            <a:extLst>
              <a:ext uri="{FF2B5EF4-FFF2-40B4-BE49-F238E27FC236}">
                <a16:creationId xmlns:a16="http://schemas.microsoft.com/office/drawing/2014/main" id="{239CD78C-6D2F-4BE0-A24B-CED9A7077392}"/>
              </a:ext>
            </a:extLst>
          </p:cNvPr>
          <p:cNvSpPr/>
          <p:nvPr/>
        </p:nvSpPr>
        <p:spPr>
          <a:xfrm>
            <a:off x="777240" y="5666481"/>
            <a:ext cx="7315200" cy="365760"/>
          </a:xfrm>
          <a:prstGeom prst="rect">
            <a:avLst/>
          </a:prstGeom>
          <a:noFill/>
          <a:ln/>
        </p:spPr>
        <p:txBody>
          <a:bodyPr wrap="square" rtlCol="0" anchor="ctr"/>
          <a:lstStyle/>
          <a:p>
            <a:pPr marL="0" indent="0">
              <a:buNone/>
            </a:pPr>
            <a:r>
              <a:rPr lang="en-US" sz="1300" dirty="0">
                <a:solidFill>
                  <a:srgbClr val="9AA6D8"/>
                </a:solidFill>
                <a:latin typeface="Calibri" pitchFamily="34" charset="0"/>
                <a:ea typeface="Calibri" pitchFamily="34" charset="-122"/>
                <a:cs typeface="Calibri" pitchFamily="34" charset="-120"/>
              </a:rPr>
              <a:t>Pearson HND in Computing  •  ANC Education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marL="0" indent="0">
              <a:buNone/>
            </a:pPr>
            <a:r>
              <a:rPr lang="en-US" sz="1200" b="1" kern="0" spc="200" dirty="0">
                <a:solidFill>
                  <a:srgbClr val="3A4B8C"/>
                </a:solidFill>
                <a:latin typeface="Calibri" pitchFamily="34" charset="0"/>
                <a:ea typeface="Calibri" pitchFamily="34" charset="-122"/>
                <a:cs typeface="Calibri" pitchFamily="34" charset="-120"/>
              </a:rPr>
              <a:t>SLIDE 1  ·  GETTING STARTED</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Introduction to Machine Learning</a:t>
            </a:r>
            <a:endParaRPr lang="en-US" sz="3000" dirty="0"/>
          </a:p>
        </p:txBody>
      </p:sp>
      <p:sp>
        <p:nvSpPr>
          <p:cNvPr id="4" name="Shape 2"/>
          <p:cNvSpPr/>
          <p:nvPr/>
        </p:nvSpPr>
        <p:spPr>
          <a:xfrm>
            <a:off x="640080" y="1828800"/>
            <a:ext cx="502920" cy="502920"/>
          </a:xfrm>
          <a:prstGeom prst="ellipse">
            <a:avLst/>
          </a:prstGeom>
          <a:solidFill>
            <a:srgbClr val="1E2761"/>
          </a:solidFill>
          <a:ln/>
        </p:spPr>
      </p:sp>
      <p:pic>
        <p:nvPicPr>
          <p:cNvPr id="5" name="Image 0" descr="icons/brain_white.png"/>
          <p:cNvPicPr>
            <a:picLocks noChangeAspect="1"/>
          </p:cNvPicPr>
          <p:nvPr/>
        </p:nvPicPr>
        <p:blipFill>
          <a:blip r:embed="rId3"/>
          <a:stretch>
            <a:fillRect/>
          </a:stretch>
        </p:blipFill>
        <p:spPr>
          <a:xfrm>
            <a:off x="749808" y="1938528"/>
            <a:ext cx="283464" cy="283464"/>
          </a:xfrm>
          <a:prstGeom prst="rect">
            <a:avLst/>
          </a:prstGeom>
        </p:spPr>
      </p:pic>
      <p:sp>
        <p:nvSpPr>
          <p:cNvPr id="6" name="Text 3"/>
          <p:cNvSpPr/>
          <p:nvPr/>
        </p:nvSpPr>
        <p:spPr>
          <a:xfrm>
            <a:off x="1371600" y="1810512"/>
            <a:ext cx="4846320" cy="502920"/>
          </a:xfrm>
          <a:prstGeom prst="rect">
            <a:avLst/>
          </a:prstGeom>
          <a:noFill/>
          <a:ln/>
        </p:spPr>
        <p:txBody>
          <a:bodyPr wrap="square" rtlCol="0" anchor="ctr"/>
          <a:lstStyle/>
          <a:p>
            <a:pPr marL="0" indent="0">
              <a:buNone/>
            </a:pPr>
            <a:r>
              <a:rPr lang="en-US" sz="1550" dirty="0">
                <a:solidFill>
                  <a:srgbClr val="222222"/>
                </a:solidFill>
                <a:latin typeface="Times New Roman" panose="02020603050405020304" pitchFamily="18" charset="0"/>
                <a:ea typeface="Calibri" pitchFamily="34" charset="-122"/>
                <a:cs typeface="Times New Roman" panose="02020603050405020304" pitchFamily="18" charset="0"/>
              </a:rPr>
              <a:t>Machine learning learns from data</a:t>
            </a:r>
            <a:endParaRPr lang="en-US" sz="1550" dirty="0">
              <a:latin typeface="Times New Roman" panose="02020603050405020304" pitchFamily="18" charset="0"/>
              <a:cs typeface="Times New Roman" panose="02020603050405020304" pitchFamily="18" charset="0"/>
            </a:endParaRPr>
          </a:p>
        </p:txBody>
      </p:sp>
      <p:sp>
        <p:nvSpPr>
          <p:cNvPr id="7" name="Shape 4"/>
          <p:cNvSpPr/>
          <p:nvPr/>
        </p:nvSpPr>
        <p:spPr>
          <a:xfrm>
            <a:off x="640080" y="2578608"/>
            <a:ext cx="502920" cy="502920"/>
          </a:xfrm>
          <a:prstGeom prst="ellipse">
            <a:avLst/>
          </a:prstGeom>
          <a:solidFill>
            <a:srgbClr val="1E2761"/>
          </a:solidFill>
          <a:ln/>
        </p:spPr>
      </p:sp>
      <p:pic>
        <p:nvPicPr>
          <p:cNvPr id="8" name="Image 1" descr="icons/chart_white.png"/>
          <p:cNvPicPr>
            <a:picLocks noChangeAspect="1"/>
          </p:cNvPicPr>
          <p:nvPr/>
        </p:nvPicPr>
        <p:blipFill>
          <a:blip r:embed="rId4"/>
          <a:stretch>
            <a:fillRect/>
          </a:stretch>
        </p:blipFill>
        <p:spPr>
          <a:xfrm>
            <a:off x="749808" y="2688336"/>
            <a:ext cx="283464" cy="283464"/>
          </a:xfrm>
          <a:prstGeom prst="rect">
            <a:avLst/>
          </a:prstGeom>
        </p:spPr>
      </p:pic>
      <p:sp>
        <p:nvSpPr>
          <p:cNvPr id="9" name="Text 5"/>
          <p:cNvSpPr/>
          <p:nvPr/>
        </p:nvSpPr>
        <p:spPr>
          <a:xfrm>
            <a:off x="1371600" y="2560320"/>
            <a:ext cx="4846320" cy="502920"/>
          </a:xfrm>
          <a:prstGeom prst="rect">
            <a:avLst/>
          </a:prstGeom>
          <a:noFill/>
          <a:ln/>
        </p:spPr>
        <p:txBody>
          <a:bodyPr wrap="square" rtlCol="0" anchor="ctr"/>
          <a:lstStyle/>
          <a:p>
            <a:pPr marL="0" indent="0">
              <a:buNone/>
            </a:pPr>
            <a:r>
              <a:rPr lang="en-US" sz="1550" dirty="0">
                <a:solidFill>
                  <a:srgbClr val="222222"/>
                </a:solidFill>
                <a:latin typeface="Times New Roman" panose="02020603050405020304" pitchFamily="18" charset="0"/>
                <a:ea typeface="Calibri" pitchFamily="34" charset="-122"/>
                <a:cs typeface="Times New Roman" panose="02020603050405020304" pitchFamily="18" charset="0"/>
              </a:rPr>
              <a:t>It finds patterns in past information</a:t>
            </a:r>
            <a:endParaRPr lang="en-US" sz="1550" dirty="0">
              <a:latin typeface="Times New Roman" panose="02020603050405020304" pitchFamily="18" charset="0"/>
              <a:cs typeface="Times New Roman" panose="02020603050405020304" pitchFamily="18" charset="0"/>
            </a:endParaRPr>
          </a:p>
        </p:txBody>
      </p:sp>
      <p:sp>
        <p:nvSpPr>
          <p:cNvPr id="10" name="Shape 6"/>
          <p:cNvSpPr/>
          <p:nvPr/>
        </p:nvSpPr>
        <p:spPr>
          <a:xfrm>
            <a:off x="640080" y="3328416"/>
            <a:ext cx="502920" cy="502920"/>
          </a:xfrm>
          <a:prstGeom prst="ellipse">
            <a:avLst/>
          </a:prstGeom>
          <a:solidFill>
            <a:srgbClr val="1E2761"/>
          </a:solidFill>
          <a:ln/>
        </p:spPr>
      </p:sp>
      <p:pic>
        <p:nvPicPr>
          <p:cNvPr id="11" name="Image 2" descr="icons/diagram_white.png"/>
          <p:cNvPicPr>
            <a:picLocks noChangeAspect="1"/>
          </p:cNvPicPr>
          <p:nvPr/>
        </p:nvPicPr>
        <p:blipFill>
          <a:blip r:embed="rId5"/>
          <a:stretch>
            <a:fillRect/>
          </a:stretch>
        </p:blipFill>
        <p:spPr>
          <a:xfrm>
            <a:off x="749808" y="3438144"/>
            <a:ext cx="283464" cy="283464"/>
          </a:xfrm>
          <a:prstGeom prst="rect">
            <a:avLst/>
          </a:prstGeom>
        </p:spPr>
      </p:pic>
      <p:sp>
        <p:nvSpPr>
          <p:cNvPr id="12" name="Text 7"/>
          <p:cNvSpPr/>
          <p:nvPr/>
        </p:nvSpPr>
        <p:spPr>
          <a:xfrm>
            <a:off x="1371600" y="3310128"/>
            <a:ext cx="4846320" cy="502920"/>
          </a:xfrm>
          <a:prstGeom prst="rect">
            <a:avLst/>
          </a:prstGeom>
          <a:noFill/>
          <a:ln/>
        </p:spPr>
        <p:txBody>
          <a:bodyPr wrap="square" rtlCol="0" anchor="ctr"/>
          <a:lstStyle/>
          <a:p>
            <a:pPr marL="0" indent="0">
              <a:buNone/>
            </a:pPr>
            <a:r>
              <a:rPr lang="en-US" sz="1550" dirty="0">
                <a:solidFill>
                  <a:srgbClr val="222222"/>
                </a:solidFill>
                <a:latin typeface="Times New Roman" panose="02020603050405020304" pitchFamily="18" charset="0"/>
                <a:ea typeface="Calibri" pitchFamily="34" charset="-122"/>
                <a:cs typeface="Times New Roman" panose="02020603050405020304" pitchFamily="18" charset="0"/>
              </a:rPr>
              <a:t>It makes predictions or decisions</a:t>
            </a:r>
            <a:endParaRPr lang="en-US" sz="1550" dirty="0">
              <a:latin typeface="Times New Roman" panose="02020603050405020304" pitchFamily="18" charset="0"/>
              <a:cs typeface="Times New Roman" panose="02020603050405020304" pitchFamily="18" charset="0"/>
            </a:endParaRPr>
          </a:p>
        </p:txBody>
      </p:sp>
      <p:sp>
        <p:nvSpPr>
          <p:cNvPr id="13" name="Shape 8"/>
          <p:cNvSpPr/>
          <p:nvPr/>
        </p:nvSpPr>
        <p:spPr>
          <a:xfrm>
            <a:off x="640080" y="4078224"/>
            <a:ext cx="502920" cy="502920"/>
          </a:xfrm>
          <a:prstGeom prst="ellipse">
            <a:avLst/>
          </a:prstGeom>
          <a:solidFill>
            <a:srgbClr val="1E2761"/>
          </a:solidFill>
          <a:ln/>
        </p:spPr>
      </p:sp>
      <p:pic>
        <p:nvPicPr>
          <p:cNvPr id="14" name="Image 3" descr="icons/check_white.png"/>
          <p:cNvPicPr>
            <a:picLocks noChangeAspect="1"/>
          </p:cNvPicPr>
          <p:nvPr/>
        </p:nvPicPr>
        <p:blipFill>
          <a:blip r:embed="rId6"/>
          <a:stretch>
            <a:fillRect/>
          </a:stretch>
        </p:blipFill>
        <p:spPr>
          <a:xfrm>
            <a:off x="749808" y="4187952"/>
            <a:ext cx="283464" cy="283464"/>
          </a:xfrm>
          <a:prstGeom prst="rect">
            <a:avLst/>
          </a:prstGeom>
        </p:spPr>
      </p:pic>
      <p:sp>
        <p:nvSpPr>
          <p:cNvPr id="15" name="Text 9"/>
          <p:cNvSpPr/>
          <p:nvPr/>
        </p:nvSpPr>
        <p:spPr>
          <a:xfrm>
            <a:off x="1371600" y="4059936"/>
            <a:ext cx="4846320" cy="502920"/>
          </a:xfrm>
          <a:prstGeom prst="rect">
            <a:avLst/>
          </a:prstGeom>
          <a:noFill/>
          <a:ln/>
        </p:spPr>
        <p:txBody>
          <a:bodyPr wrap="square" rtlCol="0" anchor="ctr"/>
          <a:lstStyle/>
          <a:p>
            <a:pPr marL="0" indent="0">
              <a:buNone/>
            </a:pPr>
            <a:r>
              <a:rPr lang="en-US" sz="1550" dirty="0">
                <a:solidFill>
                  <a:srgbClr val="222222"/>
                </a:solidFill>
                <a:latin typeface="Times New Roman" panose="02020603050405020304" pitchFamily="18" charset="0"/>
                <a:ea typeface="Calibri" pitchFamily="34" charset="-122"/>
                <a:cs typeface="Times New Roman" panose="02020603050405020304" pitchFamily="18" charset="0"/>
              </a:rPr>
              <a:t>It helps businesses make smarter choices</a:t>
            </a:r>
            <a:endParaRPr lang="en-US" sz="1550" dirty="0">
              <a:latin typeface="Times New Roman" panose="02020603050405020304" pitchFamily="18" charset="0"/>
              <a:cs typeface="Times New Roman" panose="02020603050405020304" pitchFamily="18" charset="0"/>
            </a:endParaRPr>
          </a:p>
        </p:txBody>
      </p:sp>
      <p:sp>
        <p:nvSpPr>
          <p:cNvPr id="16" name="Shape 10"/>
          <p:cNvSpPr/>
          <p:nvPr/>
        </p:nvSpPr>
        <p:spPr>
          <a:xfrm>
            <a:off x="640080" y="4828032"/>
            <a:ext cx="502920" cy="502920"/>
          </a:xfrm>
          <a:prstGeom prst="ellipse">
            <a:avLst/>
          </a:prstGeom>
          <a:solidFill>
            <a:srgbClr val="1E2761"/>
          </a:solidFill>
          <a:ln/>
        </p:spPr>
      </p:sp>
      <p:pic>
        <p:nvPicPr>
          <p:cNvPr id="17" name="Image 4" descr="icons/bank_white.png"/>
          <p:cNvPicPr>
            <a:picLocks noChangeAspect="1"/>
          </p:cNvPicPr>
          <p:nvPr/>
        </p:nvPicPr>
        <p:blipFill>
          <a:blip r:embed="rId7"/>
          <a:stretch>
            <a:fillRect/>
          </a:stretch>
        </p:blipFill>
        <p:spPr>
          <a:xfrm>
            <a:off x="749808" y="4937760"/>
            <a:ext cx="283464" cy="283464"/>
          </a:xfrm>
          <a:prstGeom prst="rect">
            <a:avLst/>
          </a:prstGeom>
        </p:spPr>
      </p:pic>
      <p:sp>
        <p:nvSpPr>
          <p:cNvPr id="18" name="Text 11"/>
          <p:cNvSpPr/>
          <p:nvPr/>
        </p:nvSpPr>
        <p:spPr>
          <a:xfrm>
            <a:off x="1371600" y="4809744"/>
            <a:ext cx="4846320" cy="502920"/>
          </a:xfrm>
          <a:prstGeom prst="rect">
            <a:avLst/>
          </a:prstGeom>
          <a:noFill/>
          <a:ln/>
        </p:spPr>
        <p:txBody>
          <a:bodyPr wrap="square" rtlCol="0" anchor="ctr"/>
          <a:lstStyle/>
          <a:p>
            <a:pPr marL="0" indent="0">
              <a:buNone/>
            </a:pPr>
            <a:r>
              <a:rPr lang="en-US" sz="1550" dirty="0">
                <a:solidFill>
                  <a:srgbClr val="222222"/>
                </a:solidFill>
                <a:latin typeface="Times New Roman" panose="02020603050405020304" pitchFamily="18" charset="0"/>
                <a:ea typeface="Calibri" pitchFamily="34" charset="-122"/>
                <a:cs typeface="Times New Roman" panose="02020603050405020304" pitchFamily="18" charset="0"/>
              </a:rPr>
              <a:t>It is important in finance</a:t>
            </a:r>
            <a:endParaRPr lang="en-US" sz="1550" dirty="0">
              <a:latin typeface="Times New Roman" panose="02020603050405020304" pitchFamily="18" charset="0"/>
              <a:cs typeface="Times New Roman" panose="02020603050405020304" pitchFamily="18" charset="0"/>
            </a:endParaRPr>
          </a:p>
        </p:txBody>
      </p:sp>
      <p:sp>
        <p:nvSpPr>
          <p:cNvPr id="19" name="Shape 12"/>
          <p:cNvSpPr/>
          <p:nvPr/>
        </p:nvSpPr>
        <p:spPr>
          <a:xfrm>
            <a:off x="6675120" y="1691640"/>
            <a:ext cx="4937760" cy="4434840"/>
          </a:xfrm>
          <a:prstGeom prst="roundRect">
            <a:avLst>
              <a:gd name="adj" fmla="val 2474"/>
            </a:avLst>
          </a:prstGeom>
          <a:solidFill>
            <a:srgbClr val="FFFFFF"/>
          </a:solidFill>
          <a:ln w="12700">
            <a:solidFill>
              <a:srgbClr val="DCE2F2"/>
            </a:solidFill>
            <a:prstDash val="solid"/>
          </a:ln>
          <a:effectLst>
            <a:outerShdw blurRad="101600" dist="25400" dir="5400000" algn="bl" rotWithShape="0">
              <a:srgbClr val="1E2761">
                <a:alpha val="15000"/>
              </a:srgbClr>
            </a:outerShdw>
          </a:effectLst>
        </p:spPr>
      </p:sp>
      <p:sp>
        <p:nvSpPr>
          <p:cNvPr id="20" name="Text 13"/>
          <p:cNvSpPr/>
          <p:nvPr/>
        </p:nvSpPr>
        <p:spPr>
          <a:xfrm>
            <a:off x="6995160" y="1920240"/>
            <a:ext cx="4389120" cy="320040"/>
          </a:xfrm>
          <a:prstGeom prst="rect">
            <a:avLst/>
          </a:prstGeom>
          <a:noFill/>
          <a:ln/>
        </p:spPr>
        <p:txBody>
          <a:bodyPr wrap="square" rtlCol="0" anchor="ctr"/>
          <a:lstStyle/>
          <a:p>
            <a:pPr marL="0" indent="0">
              <a:buNone/>
            </a:pPr>
            <a:endParaRPr lang="en-US" sz="1400" dirty="0"/>
          </a:p>
        </p:txBody>
      </p:sp>
      <p:sp>
        <p:nvSpPr>
          <p:cNvPr id="24" name="Text 16"/>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9AA6C4"/>
                </a:solidFill>
                <a:latin typeface="Calibri" pitchFamily="34" charset="0"/>
                <a:ea typeface="Calibri" pitchFamily="34" charset="-122"/>
                <a:cs typeface="Calibri" pitchFamily="34" charset="-120"/>
              </a:rPr>
              <a:t>Part B  |  Machine Learning in Financial Analytics</a:t>
            </a:r>
            <a:endParaRPr lang="en-US" sz="1000" dirty="0"/>
          </a:p>
        </p:txBody>
      </p:sp>
      <p:sp>
        <p:nvSpPr>
          <p:cNvPr id="25" name="Text 17"/>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9AA6C4"/>
                </a:solidFill>
                <a:latin typeface="Calibri" pitchFamily="34" charset="0"/>
                <a:ea typeface="Calibri" pitchFamily="34" charset="-122"/>
                <a:cs typeface="Calibri" pitchFamily="34" charset="-120"/>
              </a:rPr>
              <a:t>2</a:t>
            </a:r>
            <a:endParaRPr lang="en-US" sz="1000" dirty="0"/>
          </a:p>
        </p:txBody>
      </p:sp>
      <p:pic>
        <p:nvPicPr>
          <p:cNvPr id="2052" name="Picture 4" descr="What is Machine Learning? - Let's Talk Science">
            <a:extLst>
              <a:ext uri="{FF2B5EF4-FFF2-40B4-BE49-F238E27FC236}">
                <a16:creationId xmlns:a16="http://schemas.microsoft.com/office/drawing/2014/main" id="{38D723C1-6D33-44BC-A6DD-AB6616D6F7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56076" y="1898276"/>
            <a:ext cx="4067287" cy="406728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marL="0" indent="0">
              <a:buNone/>
            </a:pPr>
            <a:r>
              <a:rPr lang="en-US" sz="1200" b="1" kern="0" spc="200" dirty="0">
                <a:solidFill>
                  <a:srgbClr val="3A4B8C"/>
                </a:solidFill>
                <a:latin typeface="Calibri" pitchFamily="34" charset="0"/>
                <a:ea typeface="Calibri" pitchFamily="34" charset="-122"/>
                <a:cs typeface="Calibri" pitchFamily="34" charset="-120"/>
              </a:rPr>
              <a:t>SLIDE 2  ·  THE CORE IDEA</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How Machines Learn</a:t>
            </a:r>
            <a:endParaRPr lang="en-US" sz="3000" dirty="0"/>
          </a:p>
        </p:txBody>
      </p:sp>
      <p:sp>
        <p:nvSpPr>
          <p:cNvPr id="4" name="Shape 2"/>
          <p:cNvSpPr/>
          <p:nvPr/>
        </p:nvSpPr>
        <p:spPr>
          <a:xfrm>
            <a:off x="548640" y="1920240"/>
            <a:ext cx="5120640" cy="2743200"/>
          </a:xfrm>
          <a:prstGeom prst="roundRect">
            <a:avLst>
              <a:gd name="adj" fmla="val 3333"/>
            </a:avLst>
          </a:prstGeom>
          <a:solidFill>
            <a:srgbClr val="EDEFF7"/>
          </a:solidFill>
          <a:ln/>
        </p:spPr>
      </p:sp>
      <p:sp>
        <p:nvSpPr>
          <p:cNvPr id="5" name="Text 3"/>
          <p:cNvSpPr/>
          <p:nvPr/>
        </p:nvSpPr>
        <p:spPr>
          <a:xfrm>
            <a:off x="822960" y="2148840"/>
            <a:ext cx="4572000" cy="320040"/>
          </a:xfrm>
          <a:prstGeom prst="rect">
            <a:avLst/>
          </a:prstGeom>
          <a:noFill/>
          <a:ln/>
        </p:spPr>
        <p:txBody>
          <a:bodyPr wrap="square" rtlCol="0" anchor="ctr"/>
          <a:lstStyle/>
          <a:p>
            <a:pPr marL="0" indent="0">
              <a:buNone/>
            </a:pPr>
            <a:r>
              <a:rPr lang="en-US" sz="1300" b="1" kern="0" spc="100" dirty="0">
                <a:solidFill>
                  <a:srgbClr val="5B6B8C"/>
                </a:solidFill>
                <a:latin typeface="Calibri" pitchFamily="34" charset="0"/>
                <a:ea typeface="Calibri" pitchFamily="34" charset="-122"/>
                <a:cs typeface="Calibri" pitchFamily="34" charset="-120"/>
              </a:rPr>
              <a:t>TRADITIONAL PROGRAMMING</a:t>
            </a:r>
            <a:endParaRPr lang="en-US" sz="1300" dirty="0"/>
          </a:p>
        </p:txBody>
      </p:sp>
      <p:sp>
        <p:nvSpPr>
          <p:cNvPr id="6" name="Shape 4"/>
          <p:cNvSpPr/>
          <p:nvPr/>
        </p:nvSpPr>
        <p:spPr>
          <a:xfrm>
            <a:off x="822960" y="2743200"/>
            <a:ext cx="1828800" cy="685800"/>
          </a:xfrm>
          <a:prstGeom prst="roundRect">
            <a:avLst>
              <a:gd name="adj" fmla="val 10667"/>
            </a:avLst>
          </a:prstGeom>
          <a:solidFill>
            <a:srgbClr val="FFFFFF"/>
          </a:solidFill>
          <a:ln w="12700">
            <a:solidFill>
              <a:srgbClr val="C9CEE0"/>
            </a:solidFill>
            <a:prstDash val="solid"/>
          </a:ln>
        </p:spPr>
      </p:sp>
      <p:sp>
        <p:nvSpPr>
          <p:cNvPr id="7" name="Text 5"/>
          <p:cNvSpPr/>
          <p:nvPr/>
        </p:nvSpPr>
        <p:spPr>
          <a:xfrm>
            <a:off x="822960" y="2743200"/>
            <a:ext cx="1828800" cy="685800"/>
          </a:xfrm>
          <a:prstGeom prst="rect">
            <a:avLst/>
          </a:prstGeom>
          <a:noFill/>
          <a:ln/>
        </p:spPr>
        <p:txBody>
          <a:bodyPr wrap="square" rtlCol="0" anchor="ctr"/>
          <a:lstStyle/>
          <a:p>
            <a:pPr marL="0" indent="0" algn="ctr">
              <a:buNone/>
            </a:pPr>
            <a:r>
              <a:rPr lang="en-US" sz="1400" b="1" dirty="0">
                <a:solidFill>
                  <a:srgbClr val="1E2761"/>
                </a:solidFill>
                <a:latin typeface="Times New Roman" panose="02020603050405020304" pitchFamily="18" charset="0"/>
                <a:ea typeface="Calibri" pitchFamily="34" charset="-122"/>
                <a:cs typeface="Times New Roman" panose="02020603050405020304" pitchFamily="18" charset="0"/>
              </a:rPr>
              <a:t>Data + Rules</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2743200" y="2743200"/>
            <a:ext cx="548640" cy="685800"/>
          </a:xfrm>
          <a:prstGeom prst="rect">
            <a:avLst/>
          </a:prstGeom>
          <a:noFill/>
          <a:ln/>
        </p:spPr>
        <p:txBody>
          <a:bodyPr wrap="square" rtlCol="0" anchor="ctr"/>
          <a:lstStyle/>
          <a:p>
            <a:pPr marL="0" indent="0" algn="ctr">
              <a:buNone/>
            </a:pPr>
            <a:r>
              <a:rPr lang="en-US" sz="2200" b="1" dirty="0">
                <a:solidFill>
                  <a:srgbClr val="1E2761"/>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291840" y="2743200"/>
            <a:ext cx="1463040" cy="685800"/>
          </a:xfrm>
          <a:prstGeom prst="roundRect">
            <a:avLst>
              <a:gd name="adj" fmla="val 10667"/>
            </a:avLst>
          </a:prstGeom>
          <a:solidFill>
            <a:srgbClr val="1E2761"/>
          </a:solidFill>
          <a:ln/>
        </p:spPr>
      </p:sp>
      <p:sp>
        <p:nvSpPr>
          <p:cNvPr id="10" name="Text 8"/>
          <p:cNvSpPr/>
          <p:nvPr/>
        </p:nvSpPr>
        <p:spPr>
          <a:xfrm>
            <a:off x="3291840" y="2743200"/>
            <a:ext cx="1463040" cy="685800"/>
          </a:xfrm>
          <a:prstGeom prst="rect">
            <a:avLst/>
          </a:prstGeom>
          <a:noFill/>
          <a:ln/>
        </p:spPr>
        <p:txBody>
          <a:bodyPr wrap="square"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Output</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822960" y="3794760"/>
            <a:ext cx="4572000" cy="640080"/>
          </a:xfrm>
          <a:prstGeom prst="rect">
            <a:avLst/>
          </a:prstGeom>
          <a:noFill/>
          <a:ln/>
        </p:spPr>
        <p:txBody>
          <a:bodyPr wrap="square" rtlCol="0" anchor="ctr"/>
          <a:lstStyle/>
          <a:p>
            <a:pPr marL="0" indent="0">
              <a:buNone/>
            </a:pPr>
            <a:r>
              <a:rPr lang="en-US" sz="1400" i="1" dirty="0">
                <a:solidFill>
                  <a:srgbClr val="5B6B8C"/>
                </a:solidFill>
                <a:latin typeface="Times New Roman" panose="02020603050405020304" pitchFamily="18" charset="0"/>
                <a:ea typeface="Calibri" pitchFamily="34" charset="-122"/>
                <a:cs typeface="Times New Roman" panose="02020603050405020304" pitchFamily="18" charset="0"/>
              </a:rPr>
              <a:t>A person writes the rules by hand for every case.</a:t>
            </a:r>
            <a:endParaRPr lang="en-US" sz="1400" dirty="0">
              <a:latin typeface="Times New Roman" panose="02020603050405020304" pitchFamily="18" charset="0"/>
              <a:cs typeface="Times New Roman" panose="02020603050405020304" pitchFamily="18" charset="0"/>
            </a:endParaRPr>
          </a:p>
        </p:txBody>
      </p:sp>
      <p:sp>
        <p:nvSpPr>
          <p:cNvPr id="12" name="Shape 10"/>
          <p:cNvSpPr/>
          <p:nvPr/>
        </p:nvSpPr>
        <p:spPr>
          <a:xfrm>
            <a:off x="5943600" y="1920240"/>
            <a:ext cx="5330952" cy="2743200"/>
          </a:xfrm>
          <a:prstGeom prst="roundRect">
            <a:avLst>
              <a:gd name="adj" fmla="val 3333"/>
            </a:avLst>
          </a:prstGeom>
          <a:solidFill>
            <a:srgbClr val="1E2761"/>
          </a:solidFill>
          <a:ln/>
        </p:spPr>
      </p:sp>
      <p:sp>
        <p:nvSpPr>
          <p:cNvPr id="13" name="Text 11"/>
          <p:cNvSpPr/>
          <p:nvPr/>
        </p:nvSpPr>
        <p:spPr>
          <a:xfrm>
            <a:off x="6217920" y="2148840"/>
            <a:ext cx="4572000" cy="320040"/>
          </a:xfrm>
          <a:prstGeom prst="rect">
            <a:avLst/>
          </a:prstGeom>
          <a:noFill/>
          <a:ln/>
        </p:spPr>
        <p:txBody>
          <a:bodyPr wrap="square" rtlCol="0" anchor="ctr"/>
          <a:lstStyle/>
          <a:p>
            <a:pPr marL="0" indent="0">
              <a:buNone/>
            </a:pPr>
            <a:r>
              <a:rPr lang="en-US" sz="1300" b="1" kern="0" spc="100" dirty="0">
                <a:solidFill>
                  <a:srgbClr val="C9A227"/>
                </a:solidFill>
                <a:latin typeface="Calibri" pitchFamily="34" charset="0"/>
                <a:ea typeface="Calibri" pitchFamily="34" charset="-122"/>
                <a:cs typeface="Calibri" pitchFamily="34" charset="-120"/>
              </a:rPr>
              <a:t>MACHINE LEARNING</a:t>
            </a:r>
            <a:endParaRPr lang="en-US" sz="1300" dirty="0"/>
          </a:p>
        </p:txBody>
      </p:sp>
      <p:sp>
        <p:nvSpPr>
          <p:cNvPr id="14" name="Shape 12"/>
          <p:cNvSpPr/>
          <p:nvPr/>
        </p:nvSpPr>
        <p:spPr>
          <a:xfrm>
            <a:off x="6217920" y="2743200"/>
            <a:ext cx="1600200" cy="685800"/>
          </a:xfrm>
          <a:prstGeom prst="roundRect">
            <a:avLst>
              <a:gd name="adj" fmla="val 10667"/>
            </a:avLst>
          </a:prstGeom>
          <a:solidFill>
            <a:srgbClr val="FFFFFF"/>
          </a:solidFill>
          <a:ln/>
        </p:spPr>
      </p:sp>
      <p:sp>
        <p:nvSpPr>
          <p:cNvPr id="15" name="Text 13"/>
          <p:cNvSpPr/>
          <p:nvPr/>
        </p:nvSpPr>
        <p:spPr>
          <a:xfrm>
            <a:off x="6217920" y="2743200"/>
            <a:ext cx="1600200" cy="685800"/>
          </a:xfrm>
          <a:prstGeom prst="rect">
            <a:avLst/>
          </a:prstGeom>
          <a:noFill/>
          <a:ln/>
        </p:spPr>
        <p:txBody>
          <a:bodyPr wrap="square" rtlCol="0" anchor="ctr"/>
          <a:lstStyle/>
          <a:p>
            <a:pPr marL="0" indent="0" algn="ctr">
              <a:buNone/>
            </a:pPr>
            <a:r>
              <a:rPr lang="en-US" sz="1400" b="1" dirty="0">
                <a:solidFill>
                  <a:srgbClr val="1E2761"/>
                </a:solidFill>
                <a:latin typeface="Times New Roman" panose="02020603050405020304" pitchFamily="18" charset="0"/>
                <a:ea typeface="Calibri" pitchFamily="34" charset="-122"/>
                <a:cs typeface="Times New Roman" panose="02020603050405020304" pitchFamily="18" charset="0"/>
              </a:rPr>
              <a:t>Data +</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rgbClr val="1E2761"/>
                </a:solidFill>
                <a:latin typeface="Times New Roman" panose="02020603050405020304" pitchFamily="18" charset="0"/>
                <a:ea typeface="Calibri" pitchFamily="34" charset="-122"/>
                <a:cs typeface="Times New Roman" panose="02020603050405020304" pitchFamily="18" charset="0"/>
              </a:rPr>
              <a:t>Outcomes</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7711888" y="2738718"/>
            <a:ext cx="806824" cy="6858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8412480" y="2743200"/>
            <a:ext cx="1463040" cy="685800"/>
          </a:xfrm>
          <a:prstGeom prst="roundRect">
            <a:avLst>
              <a:gd name="adj" fmla="val 10667"/>
            </a:avLst>
          </a:prstGeom>
          <a:solidFill>
            <a:srgbClr val="C9A227"/>
          </a:solidFill>
          <a:ln/>
        </p:spPr>
      </p:sp>
      <p:sp>
        <p:nvSpPr>
          <p:cNvPr id="18" name="Text 16"/>
          <p:cNvSpPr/>
          <p:nvPr/>
        </p:nvSpPr>
        <p:spPr>
          <a:xfrm>
            <a:off x="8412480" y="2743200"/>
            <a:ext cx="1463040" cy="685800"/>
          </a:xfrm>
          <a:prstGeom prst="rect">
            <a:avLst/>
          </a:prstGeom>
          <a:noFill/>
          <a:ln/>
        </p:spPr>
        <p:txBody>
          <a:bodyPr wrap="square" rtlCol="0" anchor="ctr"/>
          <a:lstStyle/>
          <a:p>
            <a:pPr marL="0" indent="0" algn="ctr">
              <a:buNone/>
            </a:pPr>
            <a:r>
              <a:rPr lang="en-US" sz="1400" b="1" dirty="0">
                <a:solidFill>
                  <a:srgbClr val="1E2761"/>
                </a:solidFill>
                <a:latin typeface="Times New Roman" panose="02020603050405020304" pitchFamily="18" charset="0"/>
                <a:ea typeface="Calibri" pitchFamily="34" charset="-122"/>
                <a:cs typeface="Times New Roman" panose="02020603050405020304" pitchFamily="18" charset="0"/>
              </a:rPr>
              <a:t>Model</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6217920" y="3749040"/>
            <a:ext cx="4754880" cy="36576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Prediction</a:t>
            </a:r>
            <a:endParaRPr lang="en-US" sz="1300" dirty="0"/>
          </a:p>
        </p:txBody>
      </p:sp>
      <p:sp>
        <p:nvSpPr>
          <p:cNvPr id="21" name="Text 19"/>
          <p:cNvSpPr/>
          <p:nvPr/>
        </p:nvSpPr>
        <p:spPr>
          <a:xfrm>
            <a:off x="6217920" y="4114800"/>
            <a:ext cx="4663440" cy="502920"/>
          </a:xfrm>
          <a:prstGeom prst="rect">
            <a:avLst/>
          </a:prstGeom>
          <a:noFill/>
          <a:ln/>
        </p:spPr>
        <p:txBody>
          <a:bodyPr wrap="square" rtlCol="0" anchor="ctr"/>
          <a:lstStyle/>
          <a:p>
            <a:pPr marL="0" indent="0">
              <a:buNone/>
            </a:pPr>
            <a:r>
              <a:rPr lang="en-US" sz="1400" i="1" dirty="0">
                <a:solidFill>
                  <a:srgbClr val="CADCFC"/>
                </a:solidFill>
                <a:latin typeface="Times New Roman" panose="02020603050405020304" pitchFamily="18" charset="0"/>
                <a:ea typeface="Calibri" pitchFamily="34" charset="-122"/>
                <a:cs typeface="Times New Roman" panose="02020603050405020304" pitchFamily="18" charset="0"/>
              </a:rPr>
              <a:t>The computer studies past data and learns the pattern itself.</a:t>
            </a:r>
            <a:endParaRPr lang="en-US" sz="1400" dirty="0">
              <a:latin typeface="Times New Roman" panose="02020603050405020304" pitchFamily="18" charset="0"/>
              <a:cs typeface="Times New Roman" panose="02020603050405020304" pitchFamily="18" charset="0"/>
            </a:endParaRPr>
          </a:p>
        </p:txBody>
      </p:sp>
      <p:sp>
        <p:nvSpPr>
          <p:cNvPr id="22" name="Text 20"/>
          <p:cNvSpPr/>
          <p:nvPr/>
        </p:nvSpPr>
        <p:spPr>
          <a:xfrm>
            <a:off x="548640" y="4892040"/>
            <a:ext cx="10424160" cy="1234440"/>
          </a:xfrm>
          <a:prstGeom prst="rect">
            <a:avLst/>
          </a:prstGeom>
          <a:noFill/>
          <a:ln/>
        </p:spPr>
        <p:txBody>
          <a:bodyPr wrap="square" rtlCol="0" anchor="ctr"/>
          <a:lstStyle/>
          <a:p>
            <a:pPr marL="0" indent="0">
              <a:lnSpc>
                <a:spcPct val="125000"/>
              </a:lnSpc>
              <a:buNone/>
            </a:pPr>
            <a:r>
              <a:rPr lang="en-GB" sz="1400" dirty="0">
                <a:latin typeface="Times New Roman" panose="02020603050405020304" pitchFamily="18" charset="0"/>
                <a:cs typeface="Times New Roman" panose="02020603050405020304" pitchFamily="18" charset="0"/>
              </a:rPr>
              <a:t>In the Bank Data Set, customer and campaign details are used as inputs, while </a:t>
            </a:r>
            <a:r>
              <a:rPr lang="en-GB" sz="1400" b="1" dirty="0">
                <a:latin typeface="Times New Roman" panose="02020603050405020304" pitchFamily="18" charset="0"/>
                <a:cs typeface="Times New Roman" panose="02020603050405020304" pitchFamily="18" charset="0"/>
              </a:rPr>
              <a:t>y</a:t>
            </a:r>
            <a:r>
              <a:rPr lang="en-GB" sz="1400" dirty="0">
                <a:latin typeface="Times New Roman" panose="02020603050405020304" pitchFamily="18" charset="0"/>
                <a:cs typeface="Times New Roman" panose="02020603050405020304" pitchFamily="18" charset="0"/>
              </a:rPr>
              <a:t> shows whether the customer subscribed. The model learns from training data and is then tested on unseen data to measure its real performance. </a:t>
            </a:r>
            <a:endParaRPr lang="en-US" sz="1400" dirty="0">
              <a:latin typeface="Times New Roman" panose="02020603050405020304" pitchFamily="18" charset="0"/>
              <a:cs typeface="Times New Roman" panose="02020603050405020304" pitchFamily="18" charset="0"/>
            </a:endParaRPr>
          </a:p>
        </p:txBody>
      </p:sp>
      <p:sp>
        <p:nvSpPr>
          <p:cNvPr id="23" name="Text 21"/>
          <p:cNvSpPr/>
          <p:nvPr/>
        </p:nvSpPr>
        <p:spPr>
          <a:xfrm>
            <a:off x="6583680" y="5509260"/>
            <a:ext cx="3657600" cy="274320"/>
          </a:xfrm>
          <a:prstGeom prst="rect">
            <a:avLst/>
          </a:prstGeom>
          <a:noFill/>
          <a:ln/>
        </p:spPr>
        <p:txBody>
          <a:bodyPr wrap="square" rtlCol="0" anchor="ctr"/>
          <a:lstStyle/>
          <a:p>
            <a:pPr marL="0" indent="0">
              <a:buNone/>
            </a:pPr>
            <a:r>
              <a:rPr lang="en-US" sz="1050" i="1" dirty="0">
                <a:solidFill>
                  <a:srgbClr val="5B6B8C"/>
                </a:solidFill>
                <a:latin typeface="Calibri" pitchFamily="34" charset="0"/>
                <a:ea typeface="Calibri" pitchFamily="34" charset="-122"/>
                <a:cs typeface="Calibri" pitchFamily="34" charset="-120"/>
              </a:rPr>
              <a:t>(Pedregosa et al., 2011)</a:t>
            </a:r>
            <a:endParaRPr lang="en-US" sz="1050" dirty="0"/>
          </a:p>
        </p:txBody>
      </p:sp>
      <p:sp>
        <p:nvSpPr>
          <p:cNvPr id="25" name="Text 22"/>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9AA6C4"/>
                </a:solidFill>
                <a:latin typeface="Calibri" pitchFamily="34" charset="0"/>
                <a:ea typeface="Calibri" pitchFamily="34" charset="-122"/>
                <a:cs typeface="Calibri" pitchFamily="34" charset="-120"/>
              </a:rPr>
              <a:t>Part B  |  Machine Learning in Financial Analytics</a:t>
            </a:r>
            <a:endParaRPr lang="en-US" sz="1000" dirty="0"/>
          </a:p>
        </p:txBody>
      </p:sp>
      <p:sp>
        <p:nvSpPr>
          <p:cNvPr id="26" name="Text 23"/>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9AA6C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marL="0" indent="0">
              <a:buNone/>
            </a:pPr>
            <a:r>
              <a:rPr lang="en-US" sz="1200" b="1" kern="0" spc="200" dirty="0">
                <a:solidFill>
                  <a:srgbClr val="3A4B8C"/>
                </a:solidFill>
                <a:latin typeface="Calibri" pitchFamily="34" charset="0"/>
                <a:ea typeface="Calibri" pitchFamily="34" charset="-122"/>
                <a:cs typeface="Calibri" pitchFamily="34" charset="-120"/>
              </a:rPr>
              <a:t>SLIDE 3  ·  FOUR APPROACHES</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Types of Machine Learning</a:t>
            </a:r>
            <a:endParaRPr lang="en-US" sz="3000" dirty="0"/>
          </a:p>
        </p:txBody>
      </p:sp>
      <p:sp>
        <p:nvSpPr>
          <p:cNvPr id="4" name="Shape 2"/>
          <p:cNvSpPr/>
          <p:nvPr/>
        </p:nvSpPr>
        <p:spPr>
          <a:xfrm>
            <a:off x="548640" y="1691640"/>
            <a:ext cx="2542032" cy="3977640"/>
          </a:xfrm>
          <a:prstGeom prst="roundRect">
            <a:avLst>
              <a:gd name="adj" fmla="val 3597"/>
            </a:avLst>
          </a:prstGeom>
          <a:solidFill>
            <a:srgbClr val="FFFFFF"/>
          </a:solidFill>
          <a:ln w="12700">
            <a:solidFill>
              <a:srgbClr val="DCE2F2"/>
            </a:solidFill>
            <a:prstDash val="solid"/>
          </a:ln>
          <a:effectLst>
            <a:outerShdw blurRad="76200" dist="25400" dir="5400000" algn="bl" rotWithShape="0">
              <a:srgbClr val="1E2761">
                <a:alpha val="12000"/>
              </a:srgbClr>
            </a:outerShdw>
          </a:effectLst>
        </p:spPr>
      </p:sp>
      <p:sp>
        <p:nvSpPr>
          <p:cNvPr id="5" name="Shape 3"/>
          <p:cNvSpPr/>
          <p:nvPr/>
        </p:nvSpPr>
        <p:spPr>
          <a:xfrm>
            <a:off x="1499616" y="1965960"/>
            <a:ext cx="640080" cy="640080"/>
          </a:xfrm>
          <a:prstGeom prst="ellipse">
            <a:avLst/>
          </a:prstGeom>
          <a:solidFill>
            <a:srgbClr val="1E2761"/>
          </a:solidFill>
          <a:ln/>
        </p:spPr>
      </p:sp>
      <p:pic>
        <p:nvPicPr>
          <p:cNvPr id="6" name="Image 0" descr="icons/check_gold.png"/>
          <p:cNvPicPr>
            <a:picLocks noChangeAspect="1"/>
          </p:cNvPicPr>
          <p:nvPr/>
        </p:nvPicPr>
        <p:blipFill>
          <a:blip r:embed="rId3"/>
          <a:stretch>
            <a:fillRect/>
          </a:stretch>
        </p:blipFill>
        <p:spPr>
          <a:xfrm>
            <a:off x="1636776" y="2103120"/>
            <a:ext cx="365760" cy="365760"/>
          </a:xfrm>
          <a:prstGeom prst="rect">
            <a:avLst/>
          </a:prstGeom>
        </p:spPr>
      </p:pic>
      <p:sp>
        <p:nvSpPr>
          <p:cNvPr id="7" name="Text 4"/>
          <p:cNvSpPr/>
          <p:nvPr/>
        </p:nvSpPr>
        <p:spPr>
          <a:xfrm>
            <a:off x="640080" y="2743200"/>
            <a:ext cx="2359152" cy="36576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Classification</a:t>
            </a:r>
            <a:endParaRPr lang="en-US" sz="1500" dirty="0"/>
          </a:p>
        </p:txBody>
      </p:sp>
      <p:sp>
        <p:nvSpPr>
          <p:cNvPr id="8" name="Text 5"/>
          <p:cNvSpPr/>
          <p:nvPr/>
        </p:nvSpPr>
        <p:spPr>
          <a:xfrm>
            <a:off x="685800" y="3154680"/>
            <a:ext cx="2267712" cy="320040"/>
          </a:xfrm>
          <a:prstGeom prst="rect">
            <a:avLst/>
          </a:prstGeom>
          <a:noFill/>
          <a:ln/>
        </p:spPr>
        <p:txBody>
          <a:bodyPr wrap="square" rtlCol="0" anchor="ctr"/>
          <a:lstStyle/>
          <a:p>
            <a:pPr marL="0" indent="0" algn="ctr">
              <a:buNone/>
            </a:pPr>
            <a:r>
              <a:rPr lang="en-US" sz="1200" i="1" dirty="0">
                <a:solidFill>
                  <a:srgbClr val="5B6B8C"/>
                </a:solidFill>
                <a:latin typeface="Calibri" pitchFamily="34" charset="0"/>
                <a:ea typeface="Calibri" pitchFamily="34" charset="-122"/>
                <a:cs typeface="Calibri" pitchFamily="34" charset="-120"/>
              </a:rPr>
              <a:t>Predicts a category</a:t>
            </a:r>
            <a:endParaRPr lang="en-US" sz="1200" dirty="0"/>
          </a:p>
        </p:txBody>
      </p:sp>
      <p:sp>
        <p:nvSpPr>
          <p:cNvPr id="9" name="Shape 6"/>
          <p:cNvSpPr/>
          <p:nvPr/>
        </p:nvSpPr>
        <p:spPr>
          <a:xfrm>
            <a:off x="822960" y="3566160"/>
            <a:ext cx="1993392" cy="0"/>
          </a:xfrm>
          <a:prstGeom prst="line">
            <a:avLst/>
          </a:prstGeom>
          <a:noFill/>
          <a:ln w="12700">
            <a:solidFill>
              <a:srgbClr val="E4E8F5"/>
            </a:solidFill>
            <a:prstDash val="solid"/>
          </a:ln>
        </p:spPr>
      </p:sp>
      <p:sp>
        <p:nvSpPr>
          <p:cNvPr id="10" name="Text 7"/>
          <p:cNvSpPr/>
          <p:nvPr/>
        </p:nvSpPr>
        <p:spPr>
          <a:xfrm>
            <a:off x="731520" y="3703320"/>
            <a:ext cx="2176272" cy="502920"/>
          </a:xfrm>
          <a:prstGeom prst="rect">
            <a:avLst/>
          </a:prstGeom>
          <a:noFill/>
          <a:ln/>
        </p:spPr>
        <p:txBody>
          <a:bodyPr wrap="square" rtlCol="0" anchor="ctr"/>
          <a:lstStyle/>
          <a:p>
            <a:pPr marL="0" indent="0" algn="ctr">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Example: </a:t>
            </a:r>
            <a:r>
              <a:rPr lang="en-US" sz="1200" dirty="0">
                <a:solidFill>
                  <a:srgbClr val="222222"/>
                </a:solidFill>
                <a:latin typeface="Times New Roman" panose="02020603050405020304" pitchFamily="18" charset="0"/>
                <a:ea typeface="Calibri" pitchFamily="34" charset="-122"/>
                <a:cs typeface="Times New Roman" panose="02020603050405020304" pitchFamily="18" charset="0"/>
              </a:rPr>
              <a:t>Customer subscribes: Yes / No</a:t>
            </a:r>
            <a:endParaRPr lang="en-US" sz="1200" dirty="0">
              <a:latin typeface="Times New Roman" panose="02020603050405020304" pitchFamily="18" charset="0"/>
              <a:cs typeface="Times New Roman" panose="02020603050405020304" pitchFamily="18" charset="0"/>
            </a:endParaRPr>
          </a:p>
        </p:txBody>
      </p:sp>
      <p:sp>
        <p:nvSpPr>
          <p:cNvPr id="11" name="Text 8"/>
          <p:cNvSpPr/>
          <p:nvPr/>
        </p:nvSpPr>
        <p:spPr>
          <a:xfrm>
            <a:off x="731520" y="4297680"/>
            <a:ext cx="2176272" cy="1234440"/>
          </a:xfrm>
          <a:prstGeom prst="rect">
            <a:avLst/>
          </a:prstGeom>
          <a:noFill/>
          <a:ln/>
        </p:spPr>
        <p:txBody>
          <a:bodyPr wrap="square" rtlCol="0" anchor="ctr"/>
          <a:lstStyle/>
          <a:p>
            <a:pPr marL="0" indent="0" algn="ctr">
              <a:lnSpc>
                <a:spcPct val="115000"/>
              </a:lnSpc>
              <a:buNone/>
            </a:pPr>
            <a:r>
              <a:rPr lang="en-US" sz="1200" dirty="0">
                <a:solidFill>
                  <a:srgbClr val="4A5A80"/>
                </a:solidFill>
                <a:latin typeface="Times New Roman" panose="02020603050405020304" pitchFamily="18" charset="0"/>
                <a:ea typeface="Calibri" pitchFamily="34" charset="-122"/>
                <a:cs typeface="Times New Roman" panose="02020603050405020304" pitchFamily="18" charset="0"/>
              </a:rPr>
              <a:t>The Bank Data Set is this type, because the answer is always yes or no.</a:t>
            </a:r>
            <a:endParaRPr lang="en-US" sz="1200" dirty="0">
              <a:latin typeface="Times New Roman" panose="02020603050405020304" pitchFamily="18" charset="0"/>
              <a:cs typeface="Times New Roman" panose="02020603050405020304" pitchFamily="18" charset="0"/>
            </a:endParaRPr>
          </a:p>
        </p:txBody>
      </p:sp>
      <p:sp>
        <p:nvSpPr>
          <p:cNvPr id="12" name="Shape 9"/>
          <p:cNvSpPr/>
          <p:nvPr/>
        </p:nvSpPr>
        <p:spPr>
          <a:xfrm>
            <a:off x="3291840" y="1691640"/>
            <a:ext cx="2542032" cy="3977640"/>
          </a:xfrm>
          <a:prstGeom prst="roundRect">
            <a:avLst>
              <a:gd name="adj" fmla="val 3597"/>
            </a:avLst>
          </a:prstGeom>
          <a:solidFill>
            <a:srgbClr val="FFFFFF"/>
          </a:solidFill>
          <a:ln w="12700">
            <a:solidFill>
              <a:srgbClr val="DCE2F2"/>
            </a:solidFill>
            <a:prstDash val="solid"/>
          </a:ln>
          <a:effectLst>
            <a:outerShdw blurRad="76200" dist="25400" dir="5400000" algn="bl" rotWithShape="0">
              <a:srgbClr val="1E2761">
                <a:alpha val="12000"/>
              </a:srgbClr>
            </a:outerShdw>
          </a:effectLst>
        </p:spPr>
      </p:sp>
      <p:sp>
        <p:nvSpPr>
          <p:cNvPr id="13" name="Shape 10"/>
          <p:cNvSpPr/>
          <p:nvPr/>
        </p:nvSpPr>
        <p:spPr>
          <a:xfrm>
            <a:off x="4242816" y="1965960"/>
            <a:ext cx="640080" cy="640080"/>
          </a:xfrm>
          <a:prstGeom prst="ellipse">
            <a:avLst/>
          </a:prstGeom>
          <a:solidFill>
            <a:srgbClr val="1E2761"/>
          </a:solidFill>
          <a:ln/>
        </p:spPr>
      </p:sp>
      <p:pic>
        <p:nvPicPr>
          <p:cNvPr id="14" name="Image 1" descr="icons/chart_gold.png"/>
          <p:cNvPicPr>
            <a:picLocks noChangeAspect="1"/>
          </p:cNvPicPr>
          <p:nvPr/>
        </p:nvPicPr>
        <p:blipFill>
          <a:blip r:embed="rId4"/>
          <a:stretch>
            <a:fillRect/>
          </a:stretch>
        </p:blipFill>
        <p:spPr>
          <a:xfrm>
            <a:off x="4379976" y="2103120"/>
            <a:ext cx="365760" cy="365760"/>
          </a:xfrm>
          <a:prstGeom prst="rect">
            <a:avLst/>
          </a:prstGeom>
        </p:spPr>
      </p:pic>
      <p:sp>
        <p:nvSpPr>
          <p:cNvPr id="15" name="Text 11"/>
          <p:cNvSpPr/>
          <p:nvPr/>
        </p:nvSpPr>
        <p:spPr>
          <a:xfrm>
            <a:off x="3383280" y="2743200"/>
            <a:ext cx="2359152" cy="36576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Regression</a:t>
            </a:r>
            <a:endParaRPr lang="en-US" sz="1500" dirty="0"/>
          </a:p>
        </p:txBody>
      </p:sp>
      <p:sp>
        <p:nvSpPr>
          <p:cNvPr id="16" name="Text 12"/>
          <p:cNvSpPr/>
          <p:nvPr/>
        </p:nvSpPr>
        <p:spPr>
          <a:xfrm>
            <a:off x="3429000" y="3154680"/>
            <a:ext cx="2267712" cy="320040"/>
          </a:xfrm>
          <a:prstGeom prst="rect">
            <a:avLst/>
          </a:prstGeom>
          <a:noFill/>
          <a:ln/>
        </p:spPr>
        <p:txBody>
          <a:bodyPr wrap="square" rtlCol="0" anchor="ctr"/>
          <a:lstStyle/>
          <a:p>
            <a:pPr marL="0" indent="0" algn="ctr">
              <a:buNone/>
            </a:pPr>
            <a:r>
              <a:rPr lang="en-US" sz="1200" i="1" dirty="0">
                <a:solidFill>
                  <a:srgbClr val="5B6B8C"/>
                </a:solidFill>
                <a:latin typeface="Calibri" pitchFamily="34" charset="0"/>
                <a:ea typeface="Calibri" pitchFamily="34" charset="-122"/>
                <a:cs typeface="Calibri" pitchFamily="34" charset="-120"/>
              </a:rPr>
              <a:t>Predicts a number</a:t>
            </a:r>
            <a:endParaRPr lang="en-US" sz="1200" dirty="0"/>
          </a:p>
        </p:txBody>
      </p:sp>
      <p:sp>
        <p:nvSpPr>
          <p:cNvPr id="17" name="Shape 13"/>
          <p:cNvSpPr/>
          <p:nvPr/>
        </p:nvSpPr>
        <p:spPr>
          <a:xfrm>
            <a:off x="3566160" y="3566160"/>
            <a:ext cx="1993392" cy="0"/>
          </a:xfrm>
          <a:prstGeom prst="line">
            <a:avLst/>
          </a:prstGeom>
          <a:noFill/>
          <a:ln w="12700">
            <a:solidFill>
              <a:srgbClr val="E4E8F5"/>
            </a:solidFill>
            <a:prstDash val="solid"/>
          </a:ln>
        </p:spPr>
      </p:sp>
      <p:sp>
        <p:nvSpPr>
          <p:cNvPr id="18" name="Text 14"/>
          <p:cNvSpPr/>
          <p:nvPr/>
        </p:nvSpPr>
        <p:spPr>
          <a:xfrm>
            <a:off x="3474720" y="3703320"/>
            <a:ext cx="2176272" cy="502920"/>
          </a:xfrm>
          <a:prstGeom prst="rect">
            <a:avLst/>
          </a:prstGeom>
          <a:noFill/>
          <a:ln/>
        </p:spPr>
        <p:txBody>
          <a:bodyPr wrap="square" rtlCol="0" anchor="ctr"/>
          <a:lstStyle/>
          <a:p>
            <a:pPr marL="0" indent="0" algn="ctr">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Example: </a:t>
            </a:r>
            <a:r>
              <a:rPr lang="en-US" sz="1200" dirty="0">
                <a:solidFill>
                  <a:srgbClr val="222222"/>
                </a:solidFill>
                <a:latin typeface="Times New Roman" panose="02020603050405020304" pitchFamily="18" charset="0"/>
                <a:ea typeface="Calibri" pitchFamily="34" charset="-122"/>
                <a:cs typeface="Times New Roman" panose="02020603050405020304" pitchFamily="18" charset="0"/>
              </a:rPr>
              <a:t>Future price of an asset</a:t>
            </a:r>
            <a:endParaRPr lang="en-US" sz="1200" dirty="0">
              <a:latin typeface="Times New Roman" panose="02020603050405020304" pitchFamily="18" charset="0"/>
              <a:cs typeface="Times New Roman" panose="02020603050405020304" pitchFamily="18" charset="0"/>
            </a:endParaRPr>
          </a:p>
        </p:txBody>
      </p:sp>
      <p:sp>
        <p:nvSpPr>
          <p:cNvPr id="19" name="Text 15"/>
          <p:cNvSpPr/>
          <p:nvPr/>
        </p:nvSpPr>
        <p:spPr>
          <a:xfrm>
            <a:off x="3474720" y="4297680"/>
            <a:ext cx="2176272" cy="1234440"/>
          </a:xfrm>
          <a:prstGeom prst="rect">
            <a:avLst/>
          </a:prstGeom>
          <a:noFill/>
          <a:ln/>
        </p:spPr>
        <p:txBody>
          <a:bodyPr wrap="square" rtlCol="0" anchor="ctr"/>
          <a:lstStyle/>
          <a:p>
            <a:pPr marL="0" indent="0" algn="ctr">
              <a:lnSpc>
                <a:spcPct val="115000"/>
              </a:lnSpc>
              <a:buNone/>
            </a:pPr>
            <a:r>
              <a:rPr lang="en-US" sz="1200" dirty="0">
                <a:solidFill>
                  <a:srgbClr val="4A5A80"/>
                </a:solidFill>
                <a:latin typeface="Times New Roman" panose="02020603050405020304" pitchFamily="18" charset="0"/>
                <a:ea typeface="Calibri" pitchFamily="34" charset="-122"/>
                <a:cs typeface="Times New Roman" panose="02020603050405020304" pitchFamily="18" charset="0"/>
              </a:rPr>
              <a:t>Used when the answer is a continuous number, not a category.</a:t>
            </a:r>
            <a:endParaRPr lang="en-US" sz="1200" dirty="0">
              <a:latin typeface="Times New Roman" panose="02020603050405020304" pitchFamily="18" charset="0"/>
              <a:cs typeface="Times New Roman" panose="02020603050405020304" pitchFamily="18" charset="0"/>
            </a:endParaRPr>
          </a:p>
        </p:txBody>
      </p:sp>
      <p:sp>
        <p:nvSpPr>
          <p:cNvPr id="20" name="Shape 16"/>
          <p:cNvSpPr/>
          <p:nvPr/>
        </p:nvSpPr>
        <p:spPr>
          <a:xfrm>
            <a:off x="6035040" y="1691640"/>
            <a:ext cx="2542032" cy="3977640"/>
          </a:xfrm>
          <a:prstGeom prst="roundRect">
            <a:avLst>
              <a:gd name="adj" fmla="val 3597"/>
            </a:avLst>
          </a:prstGeom>
          <a:solidFill>
            <a:srgbClr val="FFFFFF"/>
          </a:solidFill>
          <a:ln w="12700">
            <a:solidFill>
              <a:srgbClr val="DCE2F2"/>
            </a:solidFill>
            <a:prstDash val="solid"/>
          </a:ln>
          <a:effectLst>
            <a:outerShdw blurRad="76200" dist="25400" dir="5400000" algn="bl" rotWithShape="0">
              <a:srgbClr val="1E2761">
                <a:alpha val="12000"/>
              </a:srgbClr>
            </a:outerShdw>
          </a:effectLst>
        </p:spPr>
      </p:sp>
      <p:sp>
        <p:nvSpPr>
          <p:cNvPr id="21" name="Shape 17"/>
          <p:cNvSpPr/>
          <p:nvPr/>
        </p:nvSpPr>
        <p:spPr>
          <a:xfrm>
            <a:off x="6986016" y="1965960"/>
            <a:ext cx="640080" cy="640080"/>
          </a:xfrm>
          <a:prstGeom prst="ellipse">
            <a:avLst/>
          </a:prstGeom>
          <a:solidFill>
            <a:srgbClr val="1E2761"/>
          </a:solidFill>
          <a:ln/>
        </p:spPr>
      </p:sp>
      <p:pic>
        <p:nvPicPr>
          <p:cNvPr id="22" name="Image 2" descr="icons/users_gold.png"/>
          <p:cNvPicPr>
            <a:picLocks noChangeAspect="1"/>
          </p:cNvPicPr>
          <p:nvPr/>
        </p:nvPicPr>
        <p:blipFill>
          <a:blip r:embed="rId5"/>
          <a:stretch>
            <a:fillRect/>
          </a:stretch>
        </p:blipFill>
        <p:spPr>
          <a:xfrm>
            <a:off x="7123176" y="2103120"/>
            <a:ext cx="365760" cy="365760"/>
          </a:xfrm>
          <a:prstGeom prst="rect">
            <a:avLst/>
          </a:prstGeom>
        </p:spPr>
      </p:pic>
      <p:sp>
        <p:nvSpPr>
          <p:cNvPr id="23" name="Text 18"/>
          <p:cNvSpPr/>
          <p:nvPr/>
        </p:nvSpPr>
        <p:spPr>
          <a:xfrm>
            <a:off x="6126480" y="2743200"/>
            <a:ext cx="2359152" cy="36576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Clustering</a:t>
            </a:r>
            <a:endParaRPr lang="en-US" sz="1500" dirty="0"/>
          </a:p>
        </p:txBody>
      </p:sp>
      <p:sp>
        <p:nvSpPr>
          <p:cNvPr id="24" name="Text 19"/>
          <p:cNvSpPr/>
          <p:nvPr/>
        </p:nvSpPr>
        <p:spPr>
          <a:xfrm>
            <a:off x="6172200" y="3154680"/>
            <a:ext cx="2267712" cy="320040"/>
          </a:xfrm>
          <a:prstGeom prst="rect">
            <a:avLst/>
          </a:prstGeom>
          <a:noFill/>
          <a:ln/>
        </p:spPr>
        <p:txBody>
          <a:bodyPr wrap="square" rtlCol="0" anchor="ctr"/>
          <a:lstStyle/>
          <a:p>
            <a:pPr marL="0" indent="0" algn="ctr">
              <a:buNone/>
            </a:pPr>
            <a:r>
              <a:rPr lang="en-US" sz="1200" i="1" dirty="0">
                <a:solidFill>
                  <a:srgbClr val="5B6B8C"/>
                </a:solidFill>
                <a:latin typeface="Calibri" pitchFamily="34" charset="0"/>
                <a:ea typeface="Calibri" pitchFamily="34" charset="-122"/>
                <a:cs typeface="Calibri" pitchFamily="34" charset="-120"/>
              </a:rPr>
              <a:t>Finds similar groups</a:t>
            </a:r>
            <a:endParaRPr lang="en-US" sz="1200" dirty="0"/>
          </a:p>
        </p:txBody>
      </p:sp>
      <p:sp>
        <p:nvSpPr>
          <p:cNvPr id="25" name="Shape 20"/>
          <p:cNvSpPr/>
          <p:nvPr/>
        </p:nvSpPr>
        <p:spPr>
          <a:xfrm>
            <a:off x="6309360" y="3566160"/>
            <a:ext cx="1993392" cy="0"/>
          </a:xfrm>
          <a:prstGeom prst="line">
            <a:avLst/>
          </a:prstGeom>
          <a:noFill/>
          <a:ln w="12700">
            <a:solidFill>
              <a:srgbClr val="E4E8F5"/>
            </a:solidFill>
            <a:prstDash val="solid"/>
          </a:ln>
        </p:spPr>
      </p:sp>
      <p:sp>
        <p:nvSpPr>
          <p:cNvPr id="26" name="Text 21"/>
          <p:cNvSpPr/>
          <p:nvPr/>
        </p:nvSpPr>
        <p:spPr>
          <a:xfrm>
            <a:off x="6217920" y="3703320"/>
            <a:ext cx="2176272" cy="502920"/>
          </a:xfrm>
          <a:prstGeom prst="rect">
            <a:avLst/>
          </a:prstGeom>
          <a:noFill/>
          <a:ln/>
        </p:spPr>
        <p:txBody>
          <a:bodyPr wrap="square" rtlCol="0" anchor="ctr"/>
          <a:lstStyle/>
          <a:p>
            <a:pPr marL="0" indent="0" algn="ctr">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Example: </a:t>
            </a:r>
            <a:r>
              <a:rPr lang="en-US" sz="1200" dirty="0">
                <a:solidFill>
                  <a:srgbClr val="222222"/>
                </a:solidFill>
                <a:latin typeface="Times New Roman" panose="02020603050405020304" pitchFamily="18" charset="0"/>
                <a:ea typeface="Calibri" pitchFamily="34" charset="-122"/>
                <a:cs typeface="Times New Roman" panose="02020603050405020304" pitchFamily="18" charset="0"/>
              </a:rPr>
              <a:t>Customer segments</a:t>
            </a:r>
            <a:endParaRPr lang="en-US" sz="1200" dirty="0">
              <a:latin typeface="Times New Roman" panose="02020603050405020304" pitchFamily="18" charset="0"/>
              <a:cs typeface="Times New Roman" panose="02020603050405020304" pitchFamily="18" charset="0"/>
            </a:endParaRPr>
          </a:p>
        </p:txBody>
      </p:sp>
      <p:sp>
        <p:nvSpPr>
          <p:cNvPr id="27" name="Text 22"/>
          <p:cNvSpPr/>
          <p:nvPr/>
        </p:nvSpPr>
        <p:spPr>
          <a:xfrm>
            <a:off x="6217920" y="4297680"/>
            <a:ext cx="2176272" cy="1234440"/>
          </a:xfrm>
          <a:prstGeom prst="rect">
            <a:avLst/>
          </a:prstGeom>
          <a:noFill/>
          <a:ln/>
        </p:spPr>
        <p:txBody>
          <a:bodyPr wrap="square" rtlCol="0" anchor="ctr"/>
          <a:lstStyle/>
          <a:p>
            <a:pPr marL="0" indent="0" algn="ctr">
              <a:lnSpc>
                <a:spcPct val="115000"/>
              </a:lnSpc>
              <a:buNone/>
            </a:pPr>
            <a:r>
              <a:rPr lang="en-US" sz="1200" dirty="0">
                <a:solidFill>
                  <a:srgbClr val="4A5A80"/>
                </a:solidFill>
                <a:latin typeface="Times New Roman" panose="02020603050405020304" pitchFamily="18" charset="0"/>
                <a:ea typeface="Calibri" pitchFamily="34" charset="-122"/>
                <a:cs typeface="Times New Roman" panose="02020603050405020304" pitchFamily="18" charset="0"/>
              </a:rPr>
              <a:t>No labels needed. A bank could group customers by spending habits.</a:t>
            </a:r>
            <a:endParaRPr lang="en-US" sz="1200" dirty="0">
              <a:latin typeface="Times New Roman" panose="02020603050405020304" pitchFamily="18" charset="0"/>
              <a:cs typeface="Times New Roman" panose="02020603050405020304" pitchFamily="18" charset="0"/>
            </a:endParaRPr>
          </a:p>
        </p:txBody>
      </p:sp>
      <p:sp>
        <p:nvSpPr>
          <p:cNvPr id="28" name="Shape 23"/>
          <p:cNvSpPr/>
          <p:nvPr/>
        </p:nvSpPr>
        <p:spPr>
          <a:xfrm>
            <a:off x="8778240" y="1691640"/>
            <a:ext cx="2542032" cy="3977640"/>
          </a:xfrm>
          <a:prstGeom prst="roundRect">
            <a:avLst>
              <a:gd name="adj" fmla="val 3597"/>
            </a:avLst>
          </a:prstGeom>
          <a:solidFill>
            <a:srgbClr val="FFFFFF"/>
          </a:solidFill>
          <a:ln w="12700">
            <a:solidFill>
              <a:srgbClr val="DCE2F2"/>
            </a:solidFill>
            <a:prstDash val="solid"/>
          </a:ln>
          <a:effectLst>
            <a:outerShdw blurRad="76200" dist="25400" dir="5400000" algn="bl" rotWithShape="0">
              <a:srgbClr val="1E2761">
                <a:alpha val="12000"/>
              </a:srgbClr>
            </a:outerShdw>
          </a:effectLst>
        </p:spPr>
      </p:sp>
      <p:sp>
        <p:nvSpPr>
          <p:cNvPr id="29" name="Shape 24"/>
          <p:cNvSpPr/>
          <p:nvPr/>
        </p:nvSpPr>
        <p:spPr>
          <a:xfrm>
            <a:off x="9729216" y="1965960"/>
            <a:ext cx="640080" cy="640080"/>
          </a:xfrm>
          <a:prstGeom prst="ellipse">
            <a:avLst/>
          </a:prstGeom>
          <a:solidFill>
            <a:srgbClr val="1E2761"/>
          </a:solidFill>
          <a:ln/>
        </p:spPr>
      </p:sp>
      <p:pic>
        <p:nvPicPr>
          <p:cNvPr id="30" name="Image 3" descr="icons/cogs_gold.png"/>
          <p:cNvPicPr>
            <a:picLocks noChangeAspect="1"/>
          </p:cNvPicPr>
          <p:nvPr/>
        </p:nvPicPr>
        <p:blipFill>
          <a:blip r:embed="rId6"/>
          <a:stretch>
            <a:fillRect/>
          </a:stretch>
        </p:blipFill>
        <p:spPr>
          <a:xfrm>
            <a:off x="9866376" y="2103120"/>
            <a:ext cx="365760" cy="365760"/>
          </a:xfrm>
          <a:prstGeom prst="rect">
            <a:avLst/>
          </a:prstGeom>
        </p:spPr>
      </p:pic>
      <p:sp>
        <p:nvSpPr>
          <p:cNvPr id="31" name="Text 25"/>
          <p:cNvSpPr/>
          <p:nvPr/>
        </p:nvSpPr>
        <p:spPr>
          <a:xfrm>
            <a:off x="8869680" y="2743200"/>
            <a:ext cx="2359152" cy="36576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Optimisation</a:t>
            </a:r>
            <a:endParaRPr lang="en-US" sz="1500" dirty="0"/>
          </a:p>
        </p:txBody>
      </p:sp>
      <p:sp>
        <p:nvSpPr>
          <p:cNvPr id="32" name="Text 26"/>
          <p:cNvSpPr/>
          <p:nvPr/>
        </p:nvSpPr>
        <p:spPr>
          <a:xfrm>
            <a:off x="8915400" y="3154680"/>
            <a:ext cx="2267712" cy="320040"/>
          </a:xfrm>
          <a:prstGeom prst="rect">
            <a:avLst/>
          </a:prstGeom>
          <a:noFill/>
          <a:ln/>
        </p:spPr>
        <p:txBody>
          <a:bodyPr wrap="square" rtlCol="0" anchor="ctr"/>
          <a:lstStyle/>
          <a:p>
            <a:pPr marL="0" indent="0" algn="ctr">
              <a:buNone/>
            </a:pPr>
            <a:r>
              <a:rPr lang="en-US" sz="1200" i="1" dirty="0">
                <a:solidFill>
                  <a:srgbClr val="5B6B8C"/>
                </a:solidFill>
                <a:latin typeface="Calibri" pitchFamily="34" charset="0"/>
                <a:ea typeface="Calibri" pitchFamily="34" charset="-122"/>
                <a:cs typeface="Calibri" pitchFamily="34" charset="-120"/>
              </a:rPr>
              <a:t>Finds the best solution</a:t>
            </a:r>
            <a:endParaRPr lang="en-US" sz="1200" dirty="0"/>
          </a:p>
        </p:txBody>
      </p:sp>
      <p:sp>
        <p:nvSpPr>
          <p:cNvPr id="33" name="Shape 27"/>
          <p:cNvSpPr/>
          <p:nvPr/>
        </p:nvSpPr>
        <p:spPr>
          <a:xfrm>
            <a:off x="9052560" y="3566160"/>
            <a:ext cx="1993392" cy="0"/>
          </a:xfrm>
          <a:prstGeom prst="line">
            <a:avLst/>
          </a:prstGeom>
          <a:noFill/>
          <a:ln w="12700">
            <a:solidFill>
              <a:srgbClr val="E4E8F5"/>
            </a:solidFill>
            <a:prstDash val="solid"/>
          </a:ln>
        </p:spPr>
      </p:sp>
      <p:sp>
        <p:nvSpPr>
          <p:cNvPr id="34" name="Text 28"/>
          <p:cNvSpPr/>
          <p:nvPr/>
        </p:nvSpPr>
        <p:spPr>
          <a:xfrm>
            <a:off x="8961120" y="3703320"/>
            <a:ext cx="2176272" cy="502920"/>
          </a:xfrm>
          <a:prstGeom prst="rect">
            <a:avLst/>
          </a:prstGeom>
          <a:noFill/>
          <a:ln/>
        </p:spPr>
        <p:txBody>
          <a:bodyPr wrap="square" rtlCol="0" anchor="ctr"/>
          <a:lstStyle/>
          <a:p>
            <a:pPr marL="0" indent="0" algn="ctr">
              <a:buNone/>
            </a:pPr>
            <a:r>
              <a:rPr lang="en-US" sz="1200" b="1" dirty="0">
                <a:solidFill>
                  <a:srgbClr val="1E2761"/>
                </a:solidFill>
                <a:latin typeface="Times New Roman" panose="02020603050405020304" pitchFamily="18" charset="0"/>
                <a:ea typeface="Calibri" pitchFamily="34" charset="-122"/>
                <a:cs typeface="Times New Roman" panose="02020603050405020304" pitchFamily="18" charset="0"/>
              </a:rPr>
              <a:t>Example: </a:t>
            </a:r>
            <a:r>
              <a:rPr lang="en-US" sz="1200" dirty="0">
                <a:solidFill>
                  <a:srgbClr val="222222"/>
                </a:solidFill>
                <a:latin typeface="Times New Roman" panose="02020603050405020304" pitchFamily="18" charset="0"/>
                <a:ea typeface="Calibri" pitchFamily="34" charset="-122"/>
                <a:cs typeface="Times New Roman" panose="02020603050405020304" pitchFamily="18" charset="0"/>
              </a:rPr>
              <a:t>Loan or resource allocation</a:t>
            </a:r>
            <a:endParaRPr lang="en-US" sz="1200" dirty="0">
              <a:latin typeface="Times New Roman" panose="02020603050405020304" pitchFamily="18" charset="0"/>
              <a:cs typeface="Times New Roman" panose="02020603050405020304" pitchFamily="18" charset="0"/>
            </a:endParaRPr>
          </a:p>
        </p:txBody>
      </p:sp>
      <p:sp>
        <p:nvSpPr>
          <p:cNvPr id="35" name="Text 29"/>
          <p:cNvSpPr/>
          <p:nvPr/>
        </p:nvSpPr>
        <p:spPr>
          <a:xfrm>
            <a:off x="8961120" y="4297680"/>
            <a:ext cx="2176272" cy="1234440"/>
          </a:xfrm>
          <a:prstGeom prst="rect">
            <a:avLst/>
          </a:prstGeom>
          <a:noFill/>
          <a:ln/>
        </p:spPr>
        <p:txBody>
          <a:bodyPr wrap="square" rtlCol="0" anchor="ctr"/>
          <a:lstStyle/>
          <a:p>
            <a:pPr marL="0" indent="0" algn="ctr">
              <a:lnSpc>
                <a:spcPct val="115000"/>
              </a:lnSpc>
              <a:buNone/>
            </a:pPr>
            <a:r>
              <a:rPr lang="en-US" sz="1200" dirty="0">
                <a:solidFill>
                  <a:srgbClr val="4A5A80"/>
                </a:solidFill>
                <a:latin typeface="Times New Roman" panose="02020603050405020304" pitchFamily="18" charset="0"/>
                <a:ea typeface="Calibri" pitchFamily="34" charset="-122"/>
                <a:cs typeface="Times New Roman" panose="02020603050405020304" pitchFamily="18" charset="0"/>
              </a:rPr>
              <a:t>Used to make the best choice when there are limits or rules.</a:t>
            </a:r>
            <a:endParaRPr lang="en-US" sz="1200" dirty="0">
              <a:latin typeface="Times New Roman" panose="02020603050405020304" pitchFamily="18" charset="0"/>
              <a:cs typeface="Times New Roman" panose="02020603050405020304" pitchFamily="18" charset="0"/>
            </a:endParaRPr>
          </a:p>
        </p:txBody>
      </p:sp>
      <p:sp>
        <p:nvSpPr>
          <p:cNvPr id="36" name="Text 30"/>
          <p:cNvSpPr/>
          <p:nvPr/>
        </p:nvSpPr>
        <p:spPr>
          <a:xfrm>
            <a:off x="548640" y="5897880"/>
            <a:ext cx="10424160" cy="365760"/>
          </a:xfrm>
          <a:prstGeom prst="rect">
            <a:avLst/>
          </a:prstGeom>
          <a:noFill/>
          <a:ln/>
        </p:spPr>
        <p:txBody>
          <a:bodyPr wrap="square" rtlCol="0" anchor="ctr"/>
          <a:lstStyle/>
          <a:p>
            <a:pPr marL="0" indent="0">
              <a:buNone/>
            </a:pPr>
            <a:r>
              <a:rPr lang="en-US" sz="1400" i="1" dirty="0">
                <a:solidFill>
                  <a:srgbClr val="5B6B8C"/>
                </a:solidFill>
                <a:latin typeface="Times New Roman" panose="02020603050405020304" pitchFamily="18" charset="0"/>
                <a:ea typeface="Calibri" pitchFamily="34" charset="-122"/>
                <a:cs typeface="Times New Roman" panose="02020603050405020304" pitchFamily="18" charset="0"/>
              </a:rPr>
              <a:t>These four approaches help a financial organisation pick the right method for each problem.</a:t>
            </a:r>
            <a:endParaRPr lang="en-US" sz="1400" dirty="0">
              <a:latin typeface="Times New Roman" panose="02020603050405020304" pitchFamily="18" charset="0"/>
              <a:cs typeface="Times New Roman" panose="02020603050405020304" pitchFamily="18" charset="0"/>
            </a:endParaRPr>
          </a:p>
        </p:txBody>
      </p:sp>
      <p:sp>
        <p:nvSpPr>
          <p:cNvPr id="38" name="Text 31"/>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9AA6C4"/>
                </a:solidFill>
                <a:latin typeface="Calibri" pitchFamily="34" charset="0"/>
                <a:ea typeface="Calibri" pitchFamily="34" charset="-122"/>
                <a:cs typeface="Calibri" pitchFamily="34" charset="-120"/>
              </a:rPr>
              <a:t>Part B  |  Machine Learning in Financial Analytics</a:t>
            </a:r>
            <a:endParaRPr lang="en-US" sz="1000" dirty="0"/>
          </a:p>
        </p:txBody>
      </p:sp>
      <p:sp>
        <p:nvSpPr>
          <p:cNvPr id="39" name="Text 32"/>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9AA6C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marL="0" indent="0">
              <a:buNone/>
            </a:pPr>
            <a:r>
              <a:rPr lang="en-US" sz="1200" b="1" kern="0" spc="200" dirty="0">
                <a:solidFill>
                  <a:srgbClr val="3A4B8C"/>
                </a:solidFill>
                <a:latin typeface="Calibri" pitchFamily="34" charset="0"/>
                <a:ea typeface="Calibri" pitchFamily="34" charset="-122"/>
                <a:cs typeface="Calibri" pitchFamily="34" charset="-120"/>
              </a:rPr>
              <a:t>SLIDE 4  ·  PRACTICAL EXAMPLE</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Bank Data Set: A Real Example</a:t>
            </a:r>
            <a:endParaRPr lang="en-US" sz="3000" dirty="0"/>
          </a:p>
        </p:txBody>
      </p:sp>
      <p:sp>
        <p:nvSpPr>
          <p:cNvPr id="4" name="Text 2"/>
          <p:cNvSpPr/>
          <p:nvPr/>
        </p:nvSpPr>
        <p:spPr>
          <a:xfrm>
            <a:off x="548640" y="1417320"/>
            <a:ext cx="10515600" cy="411480"/>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As part of Part A, two machine learning models were built using the Bank Data Set in Google Colab.</a:t>
            </a:r>
            <a:endParaRPr lang="en-US" sz="14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2057400"/>
            <a:ext cx="2514600" cy="1371600"/>
          </a:xfrm>
          <a:prstGeom prst="roundRect">
            <a:avLst>
              <a:gd name="adj" fmla="val 6667"/>
            </a:avLst>
          </a:prstGeom>
          <a:solidFill>
            <a:srgbClr val="FFFFFF"/>
          </a:solidFill>
          <a:ln w="12700">
            <a:solidFill>
              <a:srgbClr val="DCE2F2"/>
            </a:solidFill>
            <a:prstDash val="solid"/>
          </a:ln>
        </p:spPr>
      </p:sp>
      <p:sp>
        <p:nvSpPr>
          <p:cNvPr id="6" name="Text 4"/>
          <p:cNvSpPr/>
          <p:nvPr/>
        </p:nvSpPr>
        <p:spPr>
          <a:xfrm>
            <a:off x="548640" y="2194560"/>
            <a:ext cx="2514600" cy="685800"/>
          </a:xfrm>
          <a:prstGeom prst="rect">
            <a:avLst/>
          </a:prstGeom>
          <a:noFill/>
          <a:ln/>
        </p:spPr>
        <p:txBody>
          <a:bodyPr wrap="square" rtlCol="0" anchor="ctr"/>
          <a:lstStyle/>
          <a:p>
            <a:pPr marL="0" indent="0" algn="ctr">
              <a:buNone/>
            </a:pPr>
            <a:r>
              <a:rPr lang="en-US" sz="3000" b="1" dirty="0">
                <a:solidFill>
                  <a:srgbClr val="1E2761"/>
                </a:solidFill>
                <a:latin typeface="Times New Roman" panose="02020603050405020304" pitchFamily="18" charset="0"/>
                <a:ea typeface="Calibri" pitchFamily="34" charset="-122"/>
                <a:cs typeface="Times New Roman" panose="02020603050405020304" pitchFamily="18" charset="0"/>
              </a:rPr>
              <a:t>10,000</a:t>
            </a:r>
            <a:endParaRPr lang="en-US" sz="3000" dirty="0">
              <a:latin typeface="Times New Roman" panose="02020603050405020304" pitchFamily="18" charset="0"/>
              <a:cs typeface="Times New Roman" panose="02020603050405020304" pitchFamily="18" charset="0"/>
            </a:endParaRPr>
          </a:p>
        </p:txBody>
      </p:sp>
      <p:sp>
        <p:nvSpPr>
          <p:cNvPr id="7" name="Text 5"/>
          <p:cNvSpPr/>
          <p:nvPr/>
        </p:nvSpPr>
        <p:spPr>
          <a:xfrm>
            <a:off x="548640" y="2926080"/>
            <a:ext cx="2514600" cy="365760"/>
          </a:xfrm>
          <a:prstGeom prst="rect">
            <a:avLst/>
          </a:prstGeom>
          <a:noFill/>
          <a:ln/>
        </p:spPr>
        <p:txBody>
          <a:bodyPr wrap="square" rtlCol="0" anchor="ctr"/>
          <a:lstStyle/>
          <a:p>
            <a:pPr marL="0" indent="0" algn="ctr">
              <a:buNone/>
            </a:pPr>
            <a:r>
              <a:rPr lang="en-US" sz="1400" dirty="0">
                <a:solidFill>
                  <a:srgbClr val="5B6B8C"/>
                </a:solidFill>
                <a:latin typeface="Times New Roman" panose="02020603050405020304" pitchFamily="18" charset="0"/>
                <a:ea typeface="Calibri" pitchFamily="34" charset="-122"/>
                <a:cs typeface="Times New Roman" panose="02020603050405020304" pitchFamily="18" charset="0"/>
              </a:rPr>
              <a:t>Customers</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3246120" y="2057400"/>
            <a:ext cx="2514600" cy="1371600"/>
          </a:xfrm>
          <a:prstGeom prst="roundRect">
            <a:avLst>
              <a:gd name="adj" fmla="val 6667"/>
            </a:avLst>
          </a:prstGeom>
          <a:solidFill>
            <a:srgbClr val="FFFFFF"/>
          </a:solidFill>
          <a:ln w="12700">
            <a:solidFill>
              <a:srgbClr val="DCE2F2"/>
            </a:solidFill>
            <a:prstDash val="solid"/>
          </a:ln>
        </p:spPr>
      </p:sp>
      <p:sp>
        <p:nvSpPr>
          <p:cNvPr id="9" name="Text 7"/>
          <p:cNvSpPr/>
          <p:nvPr/>
        </p:nvSpPr>
        <p:spPr>
          <a:xfrm>
            <a:off x="3246120" y="2194560"/>
            <a:ext cx="2514600" cy="685800"/>
          </a:xfrm>
          <a:prstGeom prst="rect">
            <a:avLst/>
          </a:prstGeom>
          <a:noFill/>
          <a:ln/>
        </p:spPr>
        <p:txBody>
          <a:bodyPr wrap="square" rtlCol="0" anchor="ctr"/>
          <a:lstStyle/>
          <a:p>
            <a:pPr marL="0" indent="0" algn="ctr">
              <a:buNone/>
            </a:pPr>
            <a:r>
              <a:rPr lang="en-US" sz="3000" b="1" dirty="0">
                <a:solidFill>
                  <a:srgbClr val="1E2761"/>
                </a:solidFill>
                <a:latin typeface="Times New Roman" panose="02020603050405020304" pitchFamily="18" charset="0"/>
                <a:ea typeface="Calibri" pitchFamily="34" charset="-122"/>
                <a:cs typeface="Times New Roman" panose="02020603050405020304" pitchFamily="18" charset="0"/>
              </a:rPr>
              <a:t>21</a:t>
            </a:r>
            <a:endParaRPr lang="en-US" sz="3000" dirty="0">
              <a:latin typeface="Times New Roman" panose="02020603050405020304" pitchFamily="18" charset="0"/>
              <a:cs typeface="Times New Roman" panose="02020603050405020304" pitchFamily="18" charset="0"/>
            </a:endParaRPr>
          </a:p>
        </p:txBody>
      </p:sp>
      <p:sp>
        <p:nvSpPr>
          <p:cNvPr id="10" name="Text 8"/>
          <p:cNvSpPr/>
          <p:nvPr/>
        </p:nvSpPr>
        <p:spPr>
          <a:xfrm>
            <a:off x="3246120" y="2926080"/>
            <a:ext cx="2514600" cy="365760"/>
          </a:xfrm>
          <a:prstGeom prst="rect">
            <a:avLst/>
          </a:prstGeom>
          <a:noFill/>
          <a:ln/>
        </p:spPr>
        <p:txBody>
          <a:bodyPr wrap="square" rtlCol="0" anchor="ctr"/>
          <a:lstStyle/>
          <a:p>
            <a:pPr marL="0" indent="0" algn="ctr">
              <a:buNone/>
            </a:pPr>
            <a:r>
              <a:rPr lang="en-US" sz="1400" dirty="0">
                <a:solidFill>
                  <a:srgbClr val="5B6B8C"/>
                </a:solidFill>
                <a:latin typeface="Times New Roman" panose="02020603050405020304" pitchFamily="18" charset="0"/>
                <a:ea typeface="Calibri" pitchFamily="34" charset="-122"/>
                <a:cs typeface="Times New Roman" panose="02020603050405020304" pitchFamily="18" charset="0"/>
              </a:rPr>
              <a:t>Columns of data</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5943600" y="2057400"/>
            <a:ext cx="2514600" cy="1371600"/>
          </a:xfrm>
          <a:prstGeom prst="roundRect">
            <a:avLst>
              <a:gd name="adj" fmla="val 6667"/>
            </a:avLst>
          </a:prstGeom>
          <a:solidFill>
            <a:srgbClr val="FFFFFF"/>
          </a:solidFill>
          <a:ln w="12700">
            <a:solidFill>
              <a:srgbClr val="DCE2F2"/>
            </a:solidFill>
            <a:prstDash val="solid"/>
          </a:ln>
        </p:spPr>
      </p:sp>
      <p:sp>
        <p:nvSpPr>
          <p:cNvPr id="12" name="Text 10"/>
          <p:cNvSpPr/>
          <p:nvPr/>
        </p:nvSpPr>
        <p:spPr>
          <a:xfrm>
            <a:off x="5943600" y="2194560"/>
            <a:ext cx="2514600" cy="685800"/>
          </a:xfrm>
          <a:prstGeom prst="rect">
            <a:avLst/>
          </a:prstGeom>
          <a:noFill/>
          <a:ln/>
        </p:spPr>
        <p:txBody>
          <a:bodyPr wrap="square" rtlCol="0" anchor="ctr"/>
          <a:lstStyle/>
          <a:p>
            <a:pPr marL="0" indent="0" algn="ctr">
              <a:buNone/>
            </a:pPr>
            <a:r>
              <a:rPr lang="en-US" sz="3000" b="1" dirty="0">
                <a:solidFill>
                  <a:srgbClr val="5B6B8C"/>
                </a:solidFill>
                <a:latin typeface="Times New Roman" panose="02020603050405020304" pitchFamily="18" charset="0"/>
                <a:ea typeface="Calibri" pitchFamily="34" charset="-122"/>
                <a:cs typeface="Times New Roman" panose="02020603050405020304" pitchFamily="18" charset="0"/>
              </a:rPr>
              <a:t>9,666</a:t>
            </a:r>
            <a:endParaRPr lang="en-US" sz="3000" dirty="0">
              <a:latin typeface="Times New Roman" panose="02020603050405020304" pitchFamily="18" charset="0"/>
              <a:cs typeface="Times New Roman" panose="02020603050405020304" pitchFamily="18" charset="0"/>
            </a:endParaRPr>
          </a:p>
        </p:txBody>
      </p:sp>
      <p:sp>
        <p:nvSpPr>
          <p:cNvPr id="13" name="Text 11"/>
          <p:cNvSpPr/>
          <p:nvPr/>
        </p:nvSpPr>
        <p:spPr>
          <a:xfrm>
            <a:off x="5943600" y="2926080"/>
            <a:ext cx="2514600" cy="365760"/>
          </a:xfrm>
          <a:prstGeom prst="rect">
            <a:avLst/>
          </a:prstGeom>
          <a:noFill/>
          <a:ln/>
        </p:spPr>
        <p:txBody>
          <a:bodyPr wrap="square" rtlCol="0" anchor="ctr"/>
          <a:lstStyle/>
          <a:p>
            <a:pPr marL="0" indent="0" algn="ctr">
              <a:buNone/>
            </a:pPr>
            <a:r>
              <a:rPr lang="en-US" sz="1400" dirty="0">
                <a:solidFill>
                  <a:srgbClr val="5B6B8C"/>
                </a:solidFill>
                <a:latin typeface="Times New Roman" panose="02020603050405020304" pitchFamily="18" charset="0"/>
                <a:ea typeface="Calibri" pitchFamily="34" charset="-122"/>
                <a:cs typeface="Times New Roman" panose="02020603050405020304" pitchFamily="18" charset="0"/>
              </a:rPr>
              <a:t>Said ‘No’</a:t>
            </a:r>
            <a:endParaRPr lang="en-US" sz="1400" dirty="0">
              <a:latin typeface="Times New Roman" panose="02020603050405020304" pitchFamily="18" charset="0"/>
              <a:cs typeface="Times New Roman" panose="02020603050405020304" pitchFamily="18" charset="0"/>
            </a:endParaRPr>
          </a:p>
        </p:txBody>
      </p:sp>
      <p:sp>
        <p:nvSpPr>
          <p:cNvPr id="14" name="Shape 12"/>
          <p:cNvSpPr/>
          <p:nvPr/>
        </p:nvSpPr>
        <p:spPr>
          <a:xfrm>
            <a:off x="8641080" y="2057400"/>
            <a:ext cx="2514600" cy="1371600"/>
          </a:xfrm>
          <a:prstGeom prst="roundRect">
            <a:avLst>
              <a:gd name="adj" fmla="val 6667"/>
            </a:avLst>
          </a:prstGeom>
          <a:solidFill>
            <a:srgbClr val="FFFFFF"/>
          </a:solidFill>
          <a:ln w="12700">
            <a:solidFill>
              <a:srgbClr val="DCE2F2"/>
            </a:solidFill>
            <a:prstDash val="solid"/>
          </a:ln>
        </p:spPr>
      </p:sp>
      <p:sp>
        <p:nvSpPr>
          <p:cNvPr id="15" name="Text 13"/>
          <p:cNvSpPr/>
          <p:nvPr/>
        </p:nvSpPr>
        <p:spPr>
          <a:xfrm>
            <a:off x="8641080" y="2194560"/>
            <a:ext cx="2514600" cy="685800"/>
          </a:xfrm>
          <a:prstGeom prst="rect">
            <a:avLst/>
          </a:prstGeom>
          <a:noFill/>
          <a:ln/>
        </p:spPr>
        <p:txBody>
          <a:bodyPr wrap="square" rtlCol="0" anchor="ctr"/>
          <a:lstStyle/>
          <a:p>
            <a:pPr marL="0" indent="0" algn="ctr">
              <a:buNone/>
            </a:pPr>
            <a:r>
              <a:rPr lang="en-US" sz="3000" b="1" dirty="0">
                <a:solidFill>
                  <a:srgbClr val="C9A227"/>
                </a:solidFill>
                <a:latin typeface="Times New Roman" panose="02020603050405020304" pitchFamily="18" charset="0"/>
                <a:ea typeface="Calibri" pitchFamily="34" charset="-122"/>
                <a:cs typeface="Times New Roman" panose="02020603050405020304" pitchFamily="18" charset="0"/>
              </a:rPr>
              <a:t>334</a:t>
            </a:r>
            <a:endParaRPr lang="en-US" sz="3000" dirty="0">
              <a:latin typeface="Times New Roman" panose="02020603050405020304" pitchFamily="18" charset="0"/>
              <a:cs typeface="Times New Roman" panose="02020603050405020304" pitchFamily="18" charset="0"/>
            </a:endParaRPr>
          </a:p>
        </p:txBody>
      </p:sp>
      <p:sp>
        <p:nvSpPr>
          <p:cNvPr id="16" name="Text 14"/>
          <p:cNvSpPr/>
          <p:nvPr/>
        </p:nvSpPr>
        <p:spPr>
          <a:xfrm>
            <a:off x="8641080" y="2926080"/>
            <a:ext cx="2514600" cy="365760"/>
          </a:xfrm>
          <a:prstGeom prst="rect">
            <a:avLst/>
          </a:prstGeom>
          <a:noFill/>
          <a:ln/>
        </p:spPr>
        <p:txBody>
          <a:bodyPr wrap="square" rtlCol="0" anchor="ctr"/>
          <a:lstStyle/>
          <a:p>
            <a:pPr marL="0" indent="0" algn="ctr">
              <a:buNone/>
            </a:pPr>
            <a:r>
              <a:rPr lang="en-US" sz="1400" dirty="0">
                <a:solidFill>
                  <a:srgbClr val="5B6B8C"/>
                </a:solidFill>
                <a:latin typeface="Times New Roman" panose="02020603050405020304" pitchFamily="18" charset="0"/>
                <a:ea typeface="Calibri" pitchFamily="34" charset="-122"/>
                <a:cs typeface="Times New Roman" panose="02020603050405020304" pitchFamily="18" charset="0"/>
              </a:rPr>
              <a:t>Said ‘Yes’</a:t>
            </a:r>
            <a:endParaRPr lang="en-US" sz="1400" dirty="0">
              <a:latin typeface="Times New Roman" panose="02020603050405020304" pitchFamily="18" charset="0"/>
              <a:cs typeface="Times New Roman" panose="02020603050405020304" pitchFamily="18" charset="0"/>
            </a:endParaRPr>
          </a:p>
        </p:txBody>
      </p:sp>
      <p:sp>
        <p:nvSpPr>
          <p:cNvPr id="17" name="Text 15"/>
          <p:cNvSpPr/>
          <p:nvPr/>
        </p:nvSpPr>
        <p:spPr>
          <a:xfrm>
            <a:off x="548640" y="3611880"/>
            <a:ext cx="10515600" cy="365760"/>
          </a:xfrm>
          <a:prstGeom prst="rect">
            <a:avLst/>
          </a:prstGeom>
          <a:noFill/>
          <a:ln/>
        </p:spPr>
        <p:txBody>
          <a:bodyPr wrap="square" rtlCol="0" anchor="ctr"/>
          <a:lstStyle/>
          <a:p>
            <a:pPr marL="0" indent="0">
              <a:buNone/>
            </a:pPr>
            <a:r>
              <a:rPr lang="en-US" sz="1400" i="1" dirty="0">
                <a:solidFill>
                  <a:srgbClr val="5B6B8C"/>
                </a:solidFill>
                <a:latin typeface="Times New Roman" panose="02020603050405020304" pitchFamily="18" charset="0"/>
                <a:ea typeface="Calibri" pitchFamily="34" charset="-122"/>
                <a:cs typeface="Times New Roman" panose="02020603050405020304" pitchFamily="18" charset="0"/>
              </a:rPr>
              <a:t>Only 3.34% of customers actually subscribed - a big class imbalance that affects how we judge the models.</a:t>
            </a:r>
            <a:endParaRPr lang="en-US" sz="1400" dirty="0">
              <a:latin typeface="Times New Roman" panose="02020603050405020304" pitchFamily="18" charset="0"/>
              <a:cs typeface="Times New Roman" panose="02020603050405020304" pitchFamily="18" charset="0"/>
            </a:endParaRPr>
          </a:p>
        </p:txBody>
      </p:sp>
      <p:sp>
        <p:nvSpPr>
          <p:cNvPr id="18" name="Shape 16"/>
          <p:cNvSpPr/>
          <p:nvPr/>
        </p:nvSpPr>
        <p:spPr>
          <a:xfrm>
            <a:off x="548640" y="4160520"/>
            <a:ext cx="5074920" cy="1965960"/>
          </a:xfrm>
          <a:prstGeom prst="roundRect">
            <a:avLst>
              <a:gd name="adj" fmla="val 4651"/>
            </a:avLst>
          </a:prstGeom>
          <a:solidFill>
            <a:srgbClr val="1E2761"/>
          </a:solidFill>
          <a:ln/>
        </p:spPr>
      </p:sp>
      <p:sp>
        <p:nvSpPr>
          <p:cNvPr id="19" name="Text 17"/>
          <p:cNvSpPr/>
          <p:nvPr/>
        </p:nvSpPr>
        <p:spPr>
          <a:xfrm>
            <a:off x="822960" y="4343400"/>
            <a:ext cx="4572000" cy="320040"/>
          </a:xfrm>
          <a:prstGeom prst="rect">
            <a:avLst/>
          </a:prstGeom>
          <a:noFill/>
          <a:ln/>
        </p:spPr>
        <p:txBody>
          <a:bodyPr wrap="square" rtlCol="0" anchor="ctr"/>
          <a:lstStyle/>
          <a:p>
            <a:pPr marL="0" indent="0">
              <a:buNone/>
            </a:pPr>
            <a:r>
              <a:rPr lang="en-US" sz="1200" b="1" kern="0" spc="100" dirty="0">
                <a:solidFill>
                  <a:srgbClr val="C9A227"/>
                </a:solidFill>
                <a:latin typeface="Calibri" pitchFamily="34" charset="0"/>
                <a:ea typeface="Calibri" pitchFamily="34" charset="-122"/>
                <a:cs typeface="Calibri" pitchFamily="34" charset="-120"/>
              </a:rPr>
              <a:t>ALGORITHMS TESTED</a:t>
            </a:r>
            <a:endParaRPr lang="en-US" sz="1200" dirty="0"/>
          </a:p>
        </p:txBody>
      </p:sp>
      <p:pic>
        <p:nvPicPr>
          <p:cNvPr id="20" name="Image 0" descr="icons/diagram_gold.png"/>
          <p:cNvPicPr>
            <a:picLocks noChangeAspect="1"/>
          </p:cNvPicPr>
          <p:nvPr/>
        </p:nvPicPr>
        <p:blipFill>
          <a:blip r:embed="rId3"/>
          <a:stretch>
            <a:fillRect/>
          </a:stretch>
        </p:blipFill>
        <p:spPr>
          <a:xfrm>
            <a:off x="822960" y="4800600"/>
            <a:ext cx="365760" cy="365760"/>
          </a:xfrm>
          <a:prstGeom prst="rect">
            <a:avLst/>
          </a:prstGeom>
        </p:spPr>
      </p:pic>
      <p:sp>
        <p:nvSpPr>
          <p:cNvPr id="21" name="Text 18"/>
          <p:cNvSpPr/>
          <p:nvPr/>
        </p:nvSpPr>
        <p:spPr>
          <a:xfrm>
            <a:off x="1325880" y="4800600"/>
            <a:ext cx="4114800" cy="36576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Logistic Regression</a:t>
            </a:r>
            <a:endParaRPr lang="en-US" sz="1400" dirty="0">
              <a:latin typeface="Times New Roman" panose="02020603050405020304" pitchFamily="18" charset="0"/>
              <a:cs typeface="Times New Roman" panose="02020603050405020304" pitchFamily="18" charset="0"/>
            </a:endParaRPr>
          </a:p>
        </p:txBody>
      </p:sp>
      <p:pic>
        <p:nvPicPr>
          <p:cNvPr id="22" name="Image 1" descr="icons/diagram_gold.png"/>
          <p:cNvPicPr>
            <a:picLocks noChangeAspect="1"/>
          </p:cNvPicPr>
          <p:nvPr/>
        </p:nvPicPr>
        <p:blipFill>
          <a:blip r:embed="rId3"/>
          <a:stretch>
            <a:fillRect/>
          </a:stretch>
        </p:blipFill>
        <p:spPr>
          <a:xfrm>
            <a:off x="822960" y="5303520"/>
            <a:ext cx="365760" cy="365760"/>
          </a:xfrm>
          <a:prstGeom prst="rect">
            <a:avLst/>
          </a:prstGeom>
        </p:spPr>
      </p:pic>
      <p:sp>
        <p:nvSpPr>
          <p:cNvPr id="23" name="Text 19"/>
          <p:cNvSpPr/>
          <p:nvPr/>
        </p:nvSpPr>
        <p:spPr>
          <a:xfrm>
            <a:off x="1325880" y="5303520"/>
            <a:ext cx="4114800" cy="36576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Decision Tree</a:t>
            </a:r>
            <a:endParaRPr lang="en-US" sz="1400" dirty="0">
              <a:latin typeface="Times New Roman" panose="02020603050405020304" pitchFamily="18" charset="0"/>
              <a:cs typeface="Times New Roman" panose="02020603050405020304" pitchFamily="18" charset="0"/>
            </a:endParaRPr>
          </a:p>
        </p:txBody>
      </p:sp>
      <p:sp>
        <p:nvSpPr>
          <p:cNvPr id="24" name="Text 20"/>
          <p:cNvSpPr/>
          <p:nvPr/>
        </p:nvSpPr>
        <p:spPr>
          <a:xfrm>
            <a:off x="822960" y="5806440"/>
            <a:ext cx="4663440" cy="274320"/>
          </a:xfrm>
          <a:prstGeom prst="rect">
            <a:avLst/>
          </a:prstGeom>
          <a:noFill/>
          <a:ln/>
        </p:spPr>
        <p:txBody>
          <a:bodyPr wrap="square" rtlCol="0" anchor="ctr"/>
          <a:lstStyle/>
          <a:p>
            <a:pPr marL="0" indent="0">
              <a:buNone/>
            </a:pPr>
            <a:r>
              <a:rPr lang="en-US" sz="1200" i="1" dirty="0">
                <a:solidFill>
                  <a:srgbClr val="CADCFC"/>
                </a:solidFill>
                <a:latin typeface="Times New Roman" panose="02020603050405020304" pitchFamily="18" charset="0"/>
                <a:ea typeface="Calibri" pitchFamily="34" charset="-122"/>
                <a:cs typeface="Times New Roman" panose="02020603050405020304" pitchFamily="18" charset="0"/>
              </a:rPr>
              <a:t>Both trained and tested on the same data, for a fair comparison.</a:t>
            </a:r>
            <a:endParaRPr lang="en-US" sz="1200" dirty="0">
              <a:latin typeface="Times New Roman" panose="02020603050405020304" pitchFamily="18" charset="0"/>
              <a:cs typeface="Times New Roman" panose="02020603050405020304" pitchFamily="18" charset="0"/>
            </a:endParaRPr>
          </a:p>
        </p:txBody>
      </p:sp>
      <p:sp>
        <p:nvSpPr>
          <p:cNvPr id="26" name="Shape 21"/>
          <p:cNvSpPr/>
          <p:nvPr/>
        </p:nvSpPr>
        <p:spPr>
          <a:xfrm>
            <a:off x="5852160" y="4160520"/>
            <a:ext cx="5760720" cy="1965960"/>
          </a:xfrm>
          <a:prstGeom prst="roundRect">
            <a:avLst>
              <a:gd name="adj" fmla="val 4651"/>
            </a:avLst>
          </a:prstGeom>
          <a:solidFill>
            <a:srgbClr val="FFFFFF"/>
          </a:solidFill>
          <a:ln w="12700">
            <a:solidFill>
              <a:srgbClr val="DCE2F2"/>
            </a:solidFill>
            <a:prstDash val="solid"/>
          </a:ln>
        </p:spPr>
      </p:sp>
      <p:sp>
        <p:nvSpPr>
          <p:cNvPr id="27" name="Text 22"/>
          <p:cNvSpPr/>
          <p:nvPr/>
        </p:nvSpPr>
        <p:spPr>
          <a:xfrm>
            <a:off x="6126480" y="4343400"/>
            <a:ext cx="4572000" cy="320040"/>
          </a:xfrm>
          <a:prstGeom prst="rect">
            <a:avLst/>
          </a:prstGeom>
          <a:noFill/>
          <a:ln/>
        </p:spPr>
        <p:txBody>
          <a:bodyPr wrap="square" rtlCol="0" anchor="ctr"/>
          <a:lstStyle/>
          <a:p>
            <a:pPr marL="0" indent="0">
              <a:buNone/>
            </a:pPr>
            <a:r>
              <a:rPr lang="en-US" sz="1200" b="1" kern="0" spc="100" dirty="0">
                <a:solidFill>
                  <a:srgbClr val="3A4B8C"/>
                </a:solidFill>
                <a:latin typeface="Calibri" pitchFamily="34" charset="0"/>
                <a:ea typeface="Calibri" pitchFamily="34" charset="-122"/>
                <a:cs typeface="Calibri" pitchFamily="34" charset="-120"/>
              </a:rPr>
              <a:t>TRAIN / TEST SPLIT</a:t>
            </a:r>
            <a:endParaRPr lang="en-US" sz="1200" dirty="0"/>
          </a:p>
        </p:txBody>
      </p:sp>
      <p:sp>
        <p:nvSpPr>
          <p:cNvPr id="28" name="Shape 23"/>
          <p:cNvSpPr/>
          <p:nvPr/>
        </p:nvSpPr>
        <p:spPr>
          <a:xfrm>
            <a:off x="6126480" y="4892040"/>
            <a:ext cx="4169664" cy="457200"/>
          </a:xfrm>
          <a:prstGeom prst="rect">
            <a:avLst/>
          </a:prstGeom>
          <a:solidFill>
            <a:srgbClr val="1E2761"/>
          </a:solidFill>
          <a:ln/>
        </p:spPr>
      </p:sp>
      <p:sp>
        <p:nvSpPr>
          <p:cNvPr id="29" name="Shape 24"/>
          <p:cNvSpPr/>
          <p:nvPr/>
        </p:nvSpPr>
        <p:spPr>
          <a:xfrm>
            <a:off x="10296144" y="4892040"/>
            <a:ext cx="1042416" cy="457200"/>
          </a:xfrm>
          <a:prstGeom prst="rect">
            <a:avLst/>
          </a:prstGeom>
          <a:solidFill>
            <a:srgbClr val="C9A227"/>
          </a:solidFill>
          <a:ln/>
        </p:spPr>
      </p:sp>
      <p:sp>
        <p:nvSpPr>
          <p:cNvPr id="30" name="Text 25"/>
          <p:cNvSpPr/>
          <p:nvPr/>
        </p:nvSpPr>
        <p:spPr>
          <a:xfrm>
            <a:off x="6126480" y="5440680"/>
            <a:ext cx="4206240" cy="32004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80% Training  -  8,000 customers</a:t>
            </a:r>
            <a:endParaRPr lang="en-US" sz="1150" dirty="0"/>
          </a:p>
        </p:txBody>
      </p:sp>
      <p:sp>
        <p:nvSpPr>
          <p:cNvPr id="31" name="Text 26"/>
          <p:cNvSpPr/>
          <p:nvPr/>
        </p:nvSpPr>
        <p:spPr>
          <a:xfrm>
            <a:off x="6126480" y="5760720"/>
            <a:ext cx="4206240" cy="320040"/>
          </a:xfrm>
          <a:prstGeom prst="rect">
            <a:avLst/>
          </a:prstGeom>
          <a:noFill/>
          <a:ln/>
        </p:spPr>
        <p:txBody>
          <a:bodyPr wrap="square" rtlCol="0" anchor="ctr"/>
          <a:lstStyle/>
          <a:p>
            <a:pPr marL="0" indent="0">
              <a:buNone/>
            </a:pPr>
            <a:r>
              <a:rPr lang="en-US" sz="1150" b="1" dirty="0">
                <a:solidFill>
                  <a:srgbClr val="8A7318"/>
                </a:solidFill>
                <a:latin typeface="Calibri" pitchFamily="34" charset="0"/>
                <a:ea typeface="Calibri" pitchFamily="34" charset="-122"/>
                <a:cs typeface="Calibri" pitchFamily="34" charset="-120"/>
              </a:rPr>
              <a:t>20% Testing - 2,000 customers</a:t>
            </a:r>
            <a:endParaRPr lang="en-US" sz="1150" dirty="0"/>
          </a:p>
        </p:txBody>
      </p:sp>
      <p:sp>
        <p:nvSpPr>
          <p:cNvPr id="32" name="Text 27"/>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9AA6C4"/>
                </a:solidFill>
                <a:latin typeface="Calibri" pitchFamily="34" charset="0"/>
                <a:ea typeface="Calibri" pitchFamily="34" charset="-122"/>
                <a:cs typeface="Calibri" pitchFamily="34" charset="-120"/>
              </a:rPr>
              <a:t>Part B  |  Machine Learning in Financial Analytics</a:t>
            </a:r>
            <a:endParaRPr lang="en-US" sz="1000" dirty="0"/>
          </a:p>
        </p:txBody>
      </p:sp>
      <p:sp>
        <p:nvSpPr>
          <p:cNvPr id="33" name="Text 28"/>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9AA6C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marL="0" indent="0">
              <a:buNone/>
            </a:pPr>
            <a:r>
              <a:rPr lang="en-US" sz="1200" b="1" kern="0" spc="200" dirty="0">
                <a:solidFill>
                  <a:srgbClr val="3A4B8C"/>
                </a:solidFill>
                <a:latin typeface="Calibri" pitchFamily="34" charset="0"/>
                <a:ea typeface="Calibri" pitchFamily="34" charset="-122"/>
                <a:cs typeface="Calibri" pitchFamily="34" charset="-120"/>
              </a:rPr>
              <a:t>SLIDE 5  ·  THE RESULTS</a:t>
            </a:r>
            <a:endParaRPr lang="en-US" sz="1200" dirty="0"/>
          </a:p>
        </p:txBody>
      </p:sp>
      <p:sp>
        <p:nvSpPr>
          <p:cNvPr id="3" name="Text 1"/>
          <p:cNvSpPr/>
          <p:nvPr/>
        </p:nvSpPr>
        <p:spPr>
          <a:xfrm>
            <a:off x="548640" y="777240"/>
            <a:ext cx="1069848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Model Evaluation: Accuracy Is Not Enough</a:t>
            </a:r>
            <a:endParaRPr lang="en-US" sz="2700" dirty="0"/>
          </a:p>
        </p:txBody>
      </p:sp>
      <p:graphicFrame>
        <p:nvGraphicFramePr>
          <p:cNvPr id="4" name="Chart 0"/>
          <p:cNvGraphicFramePr/>
          <p:nvPr>
            <p:extLst>
              <p:ext uri="{D42A27DB-BD31-4B8C-83A1-F6EECF244321}">
                <p14:modId xmlns:p14="http://schemas.microsoft.com/office/powerpoint/2010/main" val="2043926975"/>
              </p:ext>
            </p:extLst>
          </p:nvPr>
        </p:nvGraphicFramePr>
        <p:xfrm>
          <a:off x="548640" y="1600200"/>
          <a:ext cx="64922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269480" y="1600200"/>
            <a:ext cx="4343400" cy="4114800"/>
          </a:xfrm>
          <a:prstGeom prst="roundRect">
            <a:avLst>
              <a:gd name="adj" fmla="val 2222"/>
            </a:avLst>
          </a:prstGeom>
          <a:solidFill>
            <a:srgbClr val="1E2761"/>
          </a:solidFill>
          <a:ln/>
        </p:spPr>
      </p:sp>
      <p:sp>
        <p:nvSpPr>
          <p:cNvPr id="6" name="Text 3"/>
          <p:cNvSpPr/>
          <p:nvPr/>
        </p:nvSpPr>
        <p:spPr>
          <a:xfrm>
            <a:off x="7543800" y="1828800"/>
            <a:ext cx="3840480" cy="320040"/>
          </a:xfrm>
          <a:prstGeom prst="rect">
            <a:avLst/>
          </a:prstGeom>
          <a:noFill/>
          <a:ln/>
        </p:spPr>
        <p:txBody>
          <a:bodyPr wrap="square" rtlCol="0" anchor="ctr"/>
          <a:lstStyle/>
          <a:p>
            <a:pPr marL="0" indent="0">
              <a:buNone/>
            </a:pPr>
            <a:r>
              <a:rPr lang="en-US" sz="1200" b="1" kern="0" spc="100" dirty="0">
                <a:solidFill>
                  <a:srgbClr val="C9A227"/>
                </a:solidFill>
                <a:latin typeface="Calibri" pitchFamily="34" charset="0"/>
                <a:ea typeface="Calibri" pitchFamily="34" charset="-122"/>
                <a:cs typeface="Calibri" pitchFamily="34" charset="-120"/>
              </a:rPr>
              <a:t>THE REAL STORY</a:t>
            </a:r>
            <a:endParaRPr lang="en-US" sz="1200" dirty="0"/>
          </a:p>
        </p:txBody>
      </p:sp>
      <p:sp>
        <p:nvSpPr>
          <p:cNvPr id="7" name="Text 4"/>
          <p:cNvSpPr/>
          <p:nvPr/>
        </p:nvSpPr>
        <p:spPr>
          <a:xfrm>
            <a:off x="7543800" y="2194560"/>
            <a:ext cx="3840480" cy="777240"/>
          </a:xfrm>
          <a:prstGeom prst="rect">
            <a:avLst/>
          </a:prstGeom>
          <a:noFill/>
          <a:ln/>
        </p:spPr>
        <p:txBody>
          <a:bodyPr wrap="square" rtlCol="0" anchor="ctr"/>
          <a:lstStyle/>
          <a:p>
            <a:pPr marL="0" indent="0">
              <a:lnSpc>
                <a:spcPct val="120000"/>
              </a:lnSpc>
              <a:buNone/>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A model that always guesses ‘No’ would already score about </a:t>
            </a:r>
            <a:r>
              <a:rPr lang="en-US" sz="1400" b="1" dirty="0">
                <a:solidFill>
                  <a:srgbClr val="C9A227"/>
                </a:solidFill>
                <a:latin typeface="Times New Roman" panose="02020603050405020304" pitchFamily="18" charset="0"/>
                <a:ea typeface="Calibri" pitchFamily="34" charset="-122"/>
                <a:cs typeface="Times New Roman" panose="02020603050405020304" pitchFamily="18" charset="0"/>
              </a:rPr>
              <a:t>96.66% accuracy.</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7543800" y="3063240"/>
            <a:ext cx="3840480" cy="365760"/>
          </a:xfrm>
          <a:prstGeom prst="rect">
            <a:avLst/>
          </a:prstGeom>
          <a:noFill/>
          <a:ln/>
        </p:spPr>
        <p:txBody>
          <a:bodyPr wrap="square" rtlCol="0" anchor="ctr"/>
          <a:lstStyle/>
          <a:p>
            <a:pPr marL="0" indent="0">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Out of 67 real subscribers in the test data:</a:t>
            </a:r>
            <a:endParaRPr lang="en-US" sz="1250" dirty="0">
              <a:latin typeface="Times New Roman" panose="02020603050405020304" pitchFamily="18" charset="0"/>
              <a:cs typeface="Times New Roman" panose="02020603050405020304" pitchFamily="18" charset="0"/>
            </a:endParaRPr>
          </a:p>
        </p:txBody>
      </p:sp>
      <p:sp>
        <p:nvSpPr>
          <p:cNvPr id="9" name="Shape 6"/>
          <p:cNvSpPr/>
          <p:nvPr/>
        </p:nvSpPr>
        <p:spPr>
          <a:xfrm>
            <a:off x="7543800" y="3474720"/>
            <a:ext cx="3840480" cy="777240"/>
          </a:xfrm>
          <a:prstGeom prst="roundRect">
            <a:avLst>
              <a:gd name="adj" fmla="val 9412"/>
            </a:avLst>
          </a:prstGeom>
          <a:solidFill>
            <a:srgbClr val="2A3A80"/>
          </a:solidFill>
          <a:ln/>
        </p:spPr>
      </p:sp>
      <p:sp>
        <p:nvSpPr>
          <p:cNvPr id="10" name="Text 7"/>
          <p:cNvSpPr/>
          <p:nvPr/>
        </p:nvSpPr>
        <p:spPr>
          <a:xfrm>
            <a:off x="7726680" y="3474720"/>
            <a:ext cx="3566160" cy="777240"/>
          </a:xfrm>
          <a:prstGeom prst="rect">
            <a:avLst/>
          </a:prstGeom>
          <a:noFill/>
          <a:ln/>
        </p:spPr>
        <p:txBody>
          <a:bodyPr wrap="square" rtlCol="0" anchor="ctr"/>
          <a:lstStyle/>
          <a:p>
            <a:pPr marL="0" indent="0">
              <a:buNone/>
            </a:pPr>
            <a:r>
              <a:rPr lang="en-US" sz="2400" b="1" dirty="0">
                <a:solidFill>
                  <a:srgbClr val="C9A227"/>
                </a:solidFill>
                <a:latin typeface="Times New Roman" panose="02020603050405020304" pitchFamily="18" charset="0"/>
                <a:ea typeface="Calibri" pitchFamily="34" charset="-122"/>
                <a:cs typeface="Times New Roman" panose="02020603050405020304" pitchFamily="18" charset="0"/>
              </a:rPr>
              <a:t>18 </a:t>
            </a: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found by Logistic Regression</a:t>
            </a:r>
            <a:endParaRPr lang="en-US" sz="2400" dirty="0">
              <a:latin typeface="Times New Roman" panose="02020603050405020304" pitchFamily="18" charset="0"/>
              <a:cs typeface="Times New Roman" panose="02020603050405020304" pitchFamily="18" charset="0"/>
            </a:endParaRPr>
          </a:p>
        </p:txBody>
      </p:sp>
      <p:sp>
        <p:nvSpPr>
          <p:cNvPr id="11" name="Shape 8"/>
          <p:cNvSpPr/>
          <p:nvPr/>
        </p:nvSpPr>
        <p:spPr>
          <a:xfrm>
            <a:off x="7543800" y="4343400"/>
            <a:ext cx="3840480" cy="777240"/>
          </a:xfrm>
          <a:prstGeom prst="roundRect">
            <a:avLst>
              <a:gd name="adj" fmla="val 9412"/>
            </a:avLst>
          </a:prstGeom>
          <a:solidFill>
            <a:srgbClr val="2A3A80"/>
          </a:solidFill>
          <a:ln/>
        </p:spPr>
      </p:sp>
      <p:sp>
        <p:nvSpPr>
          <p:cNvPr id="12" name="Text 9"/>
          <p:cNvSpPr/>
          <p:nvPr/>
        </p:nvSpPr>
        <p:spPr>
          <a:xfrm>
            <a:off x="7726680" y="4343400"/>
            <a:ext cx="3566160" cy="77724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1 </a:t>
            </a: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found by Decision Tree</a:t>
            </a:r>
            <a:endParaRPr lang="en-US" sz="2400" dirty="0">
              <a:latin typeface="Times New Roman" panose="02020603050405020304" pitchFamily="18" charset="0"/>
              <a:cs typeface="Times New Roman" panose="02020603050405020304" pitchFamily="18" charset="0"/>
            </a:endParaRPr>
          </a:p>
        </p:txBody>
      </p:sp>
      <p:sp>
        <p:nvSpPr>
          <p:cNvPr id="13" name="Text 10"/>
          <p:cNvSpPr/>
          <p:nvPr/>
        </p:nvSpPr>
        <p:spPr>
          <a:xfrm>
            <a:off x="7543800" y="5257800"/>
            <a:ext cx="3840480" cy="365760"/>
          </a:xfrm>
          <a:prstGeom prst="rect">
            <a:avLst/>
          </a:prstGeom>
          <a:noFill/>
          <a:ln/>
        </p:spPr>
        <p:txBody>
          <a:bodyPr wrap="square" rtlCol="0" anchor="ctr"/>
          <a:lstStyle/>
          <a:p>
            <a:pPr marL="0" indent="0">
              <a:buNone/>
            </a:pPr>
            <a:r>
              <a:rPr lang="en-US" sz="1200" i="1" dirty="0">
                <a:solidFill>
                  <a:srgbClr val="CADCFC"/>
                </a:solidFill>
                <a:latin typeface="Times New Roman" panose="02020603050405020304" pitchFamily="18" charset="0"/>
                <a:ea typeface="Calibri" pitchFamily="34" charset="-122"/>
                <a:cs typeface="Times New Roman" panose="02020603050405020304" pitchFamily="18" charset="0"/>
              </a:rPr>
              <a:t>This is why recall, precision and F1-score matter more than accuracy when the group we care about is small.</a:t>
            </a:r>
            <a:endParaRPr lang="en-US" sz="1200" dirty="0">
              <a:latin typeface="Times New Roman" panose="02020603050405020304" pitchFamily="18" charset="0"/>
              <a:cs typeface="Times New Roman" panose="02020603050405020304" pitchFamily="18" charset="0"/>
            </a:endParaRPr>
          </a:p>
        </p:txBody>
      </p:sp>
      <p:sp>
        <p:nvSpPr>
          <p:cNvPr id="15" name="Text 11"/>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9AA6C4"/>
                </a:solidFill>
                <a:latin typeface="Calibri" pitchFamily="34" charset="0"/>
                <a:ea typeface="Calibri" pitchFamily="34" charset="-122"/>
                <a:cs typeface="Calibri" pitchFamily="34" charset="-120"/>
              </a:rPr>
              <a:t>Part B  |  Machine Learning in Financial Analytics</a:t>
            </a:r>
            <a:endParaRPr lang="en-US" sz="1000" dirty="0"/>
          </a:p>
        </p:txBody>
      </p:sp>
      <p:sp>
        <p:nvSpPr>
          <p:cNvPr id="16" name="Text 12"/>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9AA6C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marL="0" indent="0">
              <a:buNone/>
            </a:pPr>
            <a:r>
              <a:rPr lang="en-US" sz="1200" b="1" kern="0" spc="200" dirty="0">
                <a:solidFill>
                  <a:srgbClr val="3A4B8C"/>
                </a:solidFill>
                <a:latin typeface="Calibri" pitchFamily="34" charset="0"/>
                <a:ea typeface="Calibri" pitchFamily="34" charset="-122"/>
                <a:cs typeface="Calibri" pitchFamily="34" charset="-120"/>
              </a:rPr>
              <a:t>SLIDE 6  ·  WHERE IT HELPS</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Role in Financial Analytics &amp; Customer Insight</a:t>
            </a:r>
            <a:endParaRPr lang="en-US" sz="3000" dirty="0"/>
          </a:p>
        </p:txBody>
      </p:sp>
      <p:sp>
        <p:nvSpPr>
          <p:cNvPr id="4" name="Shape 2"/>
          <p:cNvSpPr/>
          <p:nvPr/>
        </p:nvSpPr>
        <p:spPr>
          <a:xfrm>
            <a:off x="548640" y="1737360"/>
            <a:ext cx="5074920" cy="4206240"/>
          </a:xfrm>
          <a:prstGeom prst="roundRect">
            <a:avLst>
              <a:gd name="adj" fmla="val 2174"/>
            </a:avLst>
          </a:prstGeom>
          <a:solidFill>
            <a:srgbClr val="FFFFFF"/>
          </a:solidFill>
          <a:ln w="12700">
            <a:solidFill>
              <a:srgbClr val="DCE2F2"/>
            </a:solidFill>
            <a:prstDash val="solid"/>
          </a:ln>
        </p:spPr>
      </p:sp>
      <p:pic>
        <p:nvPicPr>
          <p:cNvPr id="5" name="Image 0" descr="icons/bank_navy.png"/>
          <p:cNvPicPr>
            <a:picLocks noChangeAspect="1"/>
          </p:cNvPicPr>
          <p:nvPr/>
        </p:nvPicPr>
        <p:blipFill>
          <a:blip r:embed="rId3"/>
          <a:stretch>
            <a:fillRect/>
          </a:stretch>
        </p:blipFill>
        <p:spPr>
          <a:xfrm>
            <a:off x="822960" y="2011680"/>
            <a:ext cx="457200" cy="457200"/>
          </a:xfrm>
          <a:prstGeom prst="rect">
            <a:avLst/>
          </a:prstGeom>
        </p:spPr>
      </p:pic>
      <p:sp>
        <p:nvSpPr>
          <p:cNvPr id="6" name="Text 3"/>
          <p:cNvSpPr/>
          <p:nvPr/>
        </p:nvSpPr>
        <p:spPr>
          <a:xfrm>
            <a:off x="1417320" y="2029968"/>
            <a:ext cx="3657600" cy="45720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Calibri" pitchFamily="34" charset="-122"/>
                <a:cs typeface="Times New Roman" panose="02020603050405020304" pitchFamily="18" charset="0"/>
              </a:rPr>
              <a:t>Financial Analytics</a:t>
            </a:r>
            <a:endParaRPr lang="en-US" sz="1600" dirty="0">
              <a:latin typeface="Times New Roman" panose="02020603050405020304" pitchFamily="18" charset="0"/>
              <a:cs typeface="Times New Roman" panose="02020603050405020304" pitchFamily="18" charset="0"/>
            </a:endParaRPr>
          </a:p>
        </p:txBody>
      </p:sp>
      <p:sp>
        <p:nvSpPr>
          <p:cNvPr id="7" name="Shape 4"/>
          <p:cNvSpPr/>
          <p:nvPr/>
        </p:nvSpPr>
        <p:spPr>
          <a:xfrm>
            <a:off x="868680" y="2816352"/>
            <a:ext cx="109728" cy="109728"/>
          </a:xfrm>
          <a:prstGeom prst="ellipse">
            <a:avLst/>
          </a:prstGeom>
          <a:solidFill>
            <a:srgbClr val="C9A227"/>
          </a:solidFill>
          <a:ln/>
        </p:spPr>
      </p:sp>
      <p:sp>
        <p:nvSpPr>
          <p:cNvPr id="8" name="Text 5"/>
          <p:cNvSpPr/>
          <p:nvPr/>
        </p:nvSpPr>
        <p:spPr>
          <a:xfrm>
            <a:off x="1143000" y="2670048"/>
            <a:ext cx="4434840" cy="457200"/>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Predicting how customers respond</a:t>
            </a:r>
            <a:endParaRPr lang="en-US" sz="1400" dirty="0">
              <a:latin typeface="Times New Roman" panose="02020603050405020304" pitchFamily="18" charset="0"/>
              <a:cs typeface="Times New Roman" panose="02020603050405020304" pitchFamily="18" charset="0"/>
            </a:endParaRPr>
          </a:p>
        </p:txBody>
      </p:sp>
      <p:sp>
        <p:nvSpPr>
          <p:cNvPr id="9" name="Shape 6"/>
          <p:cNvSpPr/>
          <p:nvPr/>
        </p:nvSpPr>
        <p:spPr>
          <a:xfrm>
            <a:off x="868680" y="3383280"/>
            <a:ext cx="109728" cy="109728"/>
          </a:xfrm>
          <a:prstGeom prst="ellipse">
            <a:avLst/>
          </a:prstGeom>
          <a:solidFill>
            <a:srgbClr val="C9A227"/>
          </a:solidFill>
          <a:ln/>
        </p:spPr>
      </p:sp>
      <p:sp>
        <p:nvSpPr>
          <p:cNvPr id="10" name="Text 7"/>
          <p:cNvSpPr/>
          <p:nvPr/>
        </p:nvSpPr>
        <p:spPr>
          <a:xfrm>
            <a:off x="1143000" y="3236976"/>
            <a:ext cx="4434840" cy="457200"/>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Checking credit risk</a:t>
            </a:r>
            <a:endParaRPr lang="en-US" sz="1400" dirty="0">
              <a:latin typeface="Times New Roman" panose="02020603050405020304" pitchFamily="18" charset="0"/>
              <a:cs typeface="Times New Roman" panose="02020603050405020304" pitchFamily="18" charset="0"/>
            </a:endParaRPr>
          </a:p>
        </p:txBody>
      </p:sp>
      <p:sp>
        <p:nvSpPr>
          <p:cNvPr id="11" name="Shape 8"/>
          <p:cNvSpPr/>
          <p:nvPr/>
        </p:nvSpPr>
        <p:spPr>
          <a:xfrm>
            <a:off x="868680" y="3950208"/>
            <a:ext cx="109728" cy="109728"/>
          </a:xfrm>
          <a:prstGeom prst="ellipse">
            <a:avLst/>
          </a:prstGeom>
          <a:solidFill>
            <a:srgbClr val="C9A227"/>
          </a:solidFill>
          <a:ln/>
        </p:spPr>
      </p:sp>
      <p:sp>
        <p:nvSpPr>
          <p:cNvPr id="12" name="Text 9"/>
          <p:cNvSpPr/>
          <p:nvPr/>
        </p:nvSpPr>
        <p:spPr>
          <a:xfrm>
            <a:off x="1143000" y="3803904"/>
            <a:ext cx="4434840" cy="457200"/>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Catching fraud</a:t>
            </a:r>
            <a:endParaRPr lang="en-US" sz="1400" dirty="0">
              <a:latin typeface="Times New Roman" panose="02020603050405020304" pitchFamily="18" charset="0"/>
              <a:cs typeface="Times New Roman" panose="02020603050405020304" pitchFamily="18" charset="0"/>
            </a:endParaRPr>
          </a:p>
        </p:txBody>
      </p:sp>
      <p:sp>
        <p:nvSpPr>
          <p:cNvPr id="13" name="Shape 10"/>
          <p:cNvSpPr/>
          <p:nvPr/>
        </p:nvSpPr>
        <p:spPr>
          <a:xfrm>
            <a:off x="868680" y="4517136"/>
            <a:ext cx="109728" cy="109728"/>
          </a:xfrm>
          <a:prstGeom prst="ellipse">
            <a:avLst/>
          </a:prstGeom>
          <a:solidFill>
            <a:srgbClr val="C9A227"/>
          </a:solidFill>
          <a:ln/>
        </p:spPr>
      </p:sp>
      <p:sp>
        <p:nvSpPr>
          <p:cNvPr id="14" name="Text 11"/>
          <p:cNvSpPr/>
          <p:nvPr/>
        </p:nvSpPr>
        <p:spPr>
          <a:xfrm>
            <a:off x="1143000" y="4370832"/>
            <a:ext cx="4434840" cy="457200"/>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Grouping customers</a:t>
            </a:r>
            <a:endParaRPr lang="en-US" sz="1400" dirty="0">
              <a:latin typeface="Times New Roman" panose="02020603050405020304" pitchFamily="18" charset="0"/>
              <a:cs typeface="Times New Roman" panose="02020603050405020304" pitchFamily="18" charset="0"/>
            </a:endParaRPr>
          </a:p>
        </p:txBody>
      </p:sp>
      <p:sp>
        <p:nvSpPr>
          <p:cNvPr id="15" name="Shape 12"/>
          <p:cNvSpPr/>
          <p:nvPr/>
        </p:nvSpPr>
        <p:spPr>
          <a:xfrm>
            <a:off x="868680" y="5084064"/>
            <a:ext cx="109728" cy="109728"/>
          </a:xfrm>
          <a:prstGeom prst="ellipse">
            <a:avLst/>
          </a:prstGeom>
          <a:solidFill>
            <a:srgbClr val="C9A227"/>
          </a:solidFill>
          <a:ln/>
        </p:spPr>
      </p:sp>
      <p:sp>
        <p:nvSpPr>
          <p:cNvPr id="16" name="Text 13"/>
          <p:cNvSpPr/>
          <p:nvPr/>
        </p:nvSpPr>
        <p:spPr>
          <a:xfrm>
            <a:off x="1143000" y="4937760"/>
            <a:ext cx="4434840" cy="457200"/>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Improving marketing</a:t>
            </a:r>
            <a:endParaRPr lang="en-US" sz="1400" dirty="0">
              <a:latin typeface="Times New Roman" panose="02020603050405020304" pitchFamily="18" charset="0"/>
              <a:cs typeface="Times New Roman" panose="02020603050405020304" pitchFamily="18" charset="0"/>
            </a:endParaRPr>
          </a:p>
        </p:txBody>
      </p:sp>
      <p:sp>
        <p:nvSpPr>
          <p:cNvPr id="17" name="Shape 14"/>
          <p:cNvSpPr/>
          <p:nvPr/>
        </p:nvSpPr>
        <p:spPr>
          <a:xfrm>
            <a:off x="5897880" y="1737360"/>
            <a:ext cx="5257800" cy="4206240"/>
          </a:xfrm>
          <a:prstGeom prst="roundRect">
            <a:avLst>
              <a:gd name="adj" fmla="val 2174"/>
            </a:avLst>
          </a:prstGeom>
          <a:solidFill>
            <a:srgbClr val="1E2761"/>
          </a:solidFill>
          <a:ln/>
        </p:spPr>
      </p:sp>
      <p:pic>
        <p:nvPicPr>
          <p:cNvPr id="18" name="Image 1" descr="icons/users_gold.png"/>
          <p:cNvPicPr>
            <a:picLocks noChangeAspect="1"/>
          </p:cNvPicPr>
          <p:nvPr/>
        </p:nvPicPr>
        <p:blipFill>
          <a:blip r:embed="rId4"/>
          <a:stretch>
            <a:fillRect/>
          </a:stretch>
        </p:blipFill>
        <p:spPr>
          <a:xfrm>
            <a:off x="6172200" y="2011680"/>
            <a:ext cx="457200" cy="457200"/>
          </a:xfrm>
          <a:prstGeom prst="rect">
            <a:avLst/>
          </a:prstGeom>
        </p:spPr>
      </p:pic>
      <p:sp>
        <p:nvSpPr>
          <p:cNvPr id="19" name="Text 15"/>
          <p:cNvSpPr/>
          <p:nvPr/>
        </p:nvSpPr>
        <p:spPr>
          <a:xfrm>
            <a:off x="6766560" y="2029968"/>
            <a:ext cx="3657600" cy="45720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Customer Insight</a:t>
            </a:r>
            <a:endParaRPr lang="en-US" sz="1600" dirty="0">
              <a:latin typeface="Times New Roman" panose="02020603050405020304" pitchFamily="18" charset="0"/>
              <a:cs typeface="Times New Roman" panose="02020603050405020304" pitchFamily="18" charset="0"/>
            </a:endParaRPr>
          </a:p>
        </p:txBody>
      </p:sp>
      <p:sp>
        <p:nvSpPr>
          <p:cNvPr id="20" name="Shape 16"/>
          <p:cNvSpPr/>
          <p:nvPr/>
        </p:nvSpPr>
        <p:spPr>
          <a:xfrm>
            <a:off x="6217920" y="2816352"/>
            <a:ext cx="109728" cy="109728"/>
          </a:xfrm>
          <a:prstGeom prst="ellipse">
            <a:avLst/>
          </a:prstGeom>
          <a:solidFill>
            <a:srgbClr val="C9A227"/>
          </a:solidFill>
          <a:ln/>
        </p:spPr>
      </p:sp>
      <p:sp>
        <p:nvSpPr>
          <p:cNvPr id="21" name="Text 17"/>
          <p:cNvSpPr/>
          <p:nvPr/>
        </p:nvSpPr>
        <p:spPr>
          <a:xfrm>
            <a:off x="6492240" y="2670048"/>
            <a:ext cx="4434840" cy="45720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Finding valuable customer groups</a:t>
            </a:r>
            <a:endParaRPr lang="en-US" sz="1400" dirty="0">
              <a:latin typeface="Times New Roman" panose="02020603050405020304" pitchFamily="18" charset="0"/>
              <a:cs typeface="Times New Roman" panose="02020603050405020304" pitchFamily="18" charset="0"/>
            </a:endParaRPr>
          </a:p>
        </p:txBody>
      </p:sp>
      <p:sp>
        <p:nvSpPr>
          <p:cNvPr id="22" name="Shape 18"/>
          <p:cNvSpPr/>
          <p:nvPr/>
        </p:nvSpPr>
        <p:spPr>
          <a:xfrm>
            <a:off x="6217920" y="3383280"/>
            <a:ext cx="109728" cy="109728"/>
          </a:xfrm>
          <a:prstGeom prst="ellipse">
            <a:avLst/>
          </a:prstGeom>
          <a:solidFill>
            <a:srgbClr val="C9A227"/>
          </a:solidFill>
          <a:ln/>
        </p:spPr>
      </p:sp>
      <p:sp>
        <p:nvSpPr>
          <p:cNvPr id="23" name="Text 19"/>
          <p:cNvSpPr/>
          <p:nvPr/>
        </p:nvSpPr>
        <p:spPr>
          <a:xfrm>
            <a:off x="6492240" y="3236976"/>
            <a:ext cx="4434840" cy="45720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Personalising campaigns</a:t>
            </a:r>
            <a:endParaRPr lang="en-US" sz="1400" dirty="0">
              <a:latin typeface="Times New Roman" panose="02020603050405020304" pitchFamily="18" charset="0"/>
              <a:cs typeface="Times New Roman" panose="02020603050405020304" pitchFamily="18" charset="0"/>
            </a:endParaRPr>
          </a:p>
        </p:txBody>
      </p:sp>
      <p:sp>
        <p:nvSpPr>
          <p:cNvPr id="24" name="Shape 20"/>
          <p:cNvSpPr/>
          <p:nvPr/>
        </p:nvSpPr>
        <p:spPr>
          <a:xfrm>
            <a:off x="6217920" y="3950208"/>
            <a:ext cx="109728" cy="109728"/>
          </a:xfrm>
          <a:prstGeom prst="ellipse">
            <a:avLst/>
          </a:prstGeom>
          <a:solidFill>
            <a:srgbClr val="C9A227"/>
          </a:solidFill>
          <a:ln/>
        </p:spPr>
      </p:sp>
      <p:sp>
        <p:nvSpPr>
          <p:cNvPr id="25" name="Text 21"/>
          <p:cNvSpPr/>
          <p:nvPr/>
        </p:nvSpPr>
        <p:spPr>
          <a:xfrm>
            <a:off x="6492240" y="3803904"/>
            <a:ext cx="4434840" cy="45720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Improving targeting</a:t>
            </a:r>
            <a:endParaRPr lang="en-US" sz="1400" dirty="0">
              <a:latin typeface="Times New Roman" panose="02020603050405020304" pitchFamily="18" charset="0"/>
              <a:cs typeface="Times New Roman" panose="02020603050405020304" pitchFamily="18" charset="0"/>
            </a:endParaRPr>
          </a:p>
        </p:txBody>
      </p:sp>
      <p:sp>
        <p:nvSpPr>
          <p:cNvPr id="26" name="Shape 22"/>
          <p:cNvSpPr/>
          <p:nvPr/>
        </p:nvSpPr>
        <p:spPr>
          <a:xfrm>
            <a:off x="6217920" y="4517136"/>
            <a:ext cx="109728" cy="109728"/>
          </a:xfrm>
          <a:prstGeom prst="ellipse">
            <a:avLst/>
          </a:prstGeom>
          <a:solidFill>
            <a:srgbClr val="C9A227"/>
          </a:solidFill>
          <a:ln/>
        </p:spPr>
      </p:sp>
      <p:sp>
        <p:nvSpPr>
          <p:cNvPr id="27" name="Text 23"/>
          <p:cNvSpPr/>
          <p:nvPr/>
        </p:nvSpPr>
        <p:spPr>
          <a:xfrm>
            <a:off x="6492240" y="4370832"/>
            <a:ext cx="4434840" cy="45720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Reducing wasted marketing</a:t>
            </a:r>
            <a:endParaRPr lang="en-US" sz="1400" dirty="0">
              <a:latin typeface="Times New Roman" panose="02020603050405020304" pitchFamily="18" charset="0"/>
              <a:cs typeface="Times New Roman" panose="02020603050405020304" pitchFamily="18" charset="0"/>
            </a:endParaRPr>
          </a:p>
        </p:txBody>
      </p:sp>
      <p:sp>
        <p:nvSpPr>
          <p:cNvPr id="30" name="Text 25"/>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9AA6C4"/>
                </a:solidFill>
                <a:latin typeface="Calibri" pitchFamily="34" charset="0"/>
                <a:ea typeface="Calibri" pitchFamily="34" charset="-122"/>
                <a:cs typeface="Calibri" pitchFamily="34" charset="-120"/>
              </a:rPr>
              <a:t>Part B  |  Machine Learning in Financial Analytics</a:t>
            </a:r>
            <a:endParaRPr lang="en-US" sz="1000" dirty="0"/>
          </a:p>
        </p:txBody>
      </p:sp>
      <p:sp>
        <p:nvSpPr>
          <p:cNvPr id="31" name="Text 26"/>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9AA6C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57200"/>
            <a:ext cx="3657600" cy="320040"/>
          </a:xfrm>
          <a:prstGeom prst="rect">
            <a:avLst/>
          </a:prstGeom>
          <a:noFill/>
          <a:ln/>
        </p:spPr>
        <p:txBody>
          <a:bodyPr wrap="square" rtlCol="0" anchor="ctr"/>
          <a:lstStyle/>
          <a:p>
            <a:pPr marL="0" indent="0">
              <a:buNone/>
            </a:pPr>
            <a:r>
              <a:rPr lang="en-US" sz="1200" b="1" kern="0" spc="200" dirty="0">
                <a:solidFill>
                  <a:srgbClr val="3A4B8C"/>
                </a:solidFill>
                <a:latin typeface="Calibri" pitchFamily="34" charset="0"/>
                <a:ea typeface="Calibri" pitchFamily="34" charset="-122"/>
                <a:cs typeface="Calibri" pitchFamily="34" charset="-120"/>
              </a:rPr>
              <a:t>SLIDE 7  ·  WEIGHING IT UP</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Benefits, Challenges and Ethics</a:t>
            </a:r>
            <a:endParaRPr lang="en-US" sz="3000" dirty="0"/>
          </a:p>
        </p:txBody>
      </p:sp>
      <p:sp>
        <p:nvSpPr>
          <p:cNvPr id="4" name="Shape 2"/>
          <p:cNvSpPr/>
          <p:nvPr/>
        </p:nvSpPr>
        <p:spPr>
          <a:xfrm>
            <a:off x="548640" y="1737360"/>
            <a:ext cx="3383280" cy="3200400"/>
          </a:xfrm>
          <a:prstGeom prst="roundRect">
            <a:avLst>
              <a:gd name="adj" fmla="val 2857"/>
            </a:avLst>
          </a:prstGeom>
          <a:solidFill>
            <a:srgbClr val="FFFFFF"/>
          </a:solidFill>
          <a:ln w="12700">
            <a:solidFill>
              <a:srgbClr val="DCE2F2"/>
            </a:solidFill>
            <a:prstDash val="solid"/>
          </a:ln>
          <a:effectLst>
            <a:outerShdw blurRad="76200" dist="25400" dir="5400000" algn="bl" rotWithShape="0">
              <a:srgbClr val="1E2761">
                <a:alpha val="10000"/>
              </a:srgbClr>
            </a:outerShdw>
          </a:effectLst>
        </p:spPr>
      </p:sp>
      <p:sp>
        <p:nvSpPr>
          <p:cNvPr id="5" name="Shape 3"/>
          <p:cNvSpPr/>
          <p:nvPr/>
        </p:nvSpPr>
        <p:spPr>
          <a:xfrm>
            <a:off x="777240" y="1993392"/>
            <a:ext cx="502920" cy="502920"/>
          </a:xfrm>
          <a:prstGeom prst="ellipse">
            <a:avLst/>
          </a:prstGeom>
          <a:solidFill>
            <a:srgbClr val="1E2761"/>
          </a:solidFill>
          <a:ln/>
        </p:spPr>
      </p:sp>
      <p:pic>
        <p:nvPicPr>
          <p:cNvPr id="6" name="Image 0" descr="icons/check_white.png"/>
          <p:cNvPicPr>
            <a:picLocks noChangeAspect="1"/>
          </p:cNvPicPr>
          <p:nvPr/>
        </p:nvPicPr>
        <p:blipFill>
          <a:blip r:embed="rId3"/>
          <a:stretch>
            <a:fillRect/>
          </a:stretch>
        </p:blipFill>
        <p:spPr>
          <a:xfrm>
            <a:off x="896112" y="2112264"/>
            <a:ext cx="274320" cy="274320"/>
          </a:xfrm>
          <a:prstGeom prst="rect">
            <a:avLst/>
          </a:prstGeom>
        </p:spPr>
      </p:pic>
      <p:sp>
        <p:nvSpPr>
          <p:cNvPr id="7" name="Text 4"/>
          <p:cNvSpPr/>
          <p:nvPr/>
        </p:nvSpPr>
        <p:spPr>
          <a:xfrm>
            <a:off x="1417320" y="2011680"/>
            <a:ext cx="23774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Benefits</a:t>
            </a:r>
            <a:endParaRPr lang="en-US" sz="1600" dirty="0"/>
          </a:p>
        </p:txBody>
      </p:sp>
      <p:sp>
        <p:nvSpPr>
          <p:cNvPr id="8" name="Text 5"/>
          <p:cNvSpPr/>
          <p:nvPr/>
        </p:nvSpPr>
        <p:spPr>
          <a:xfrm>
            <a:off x="822960" y="2697480"/>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Faster analysis</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822960" y="3209544"/>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Finds patterns</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822960" y="3721608"/>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Better targeting</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822960" y="4233672"/>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Decisions based on data</a:t>
            </a:r>
            <a:endParaRPr lang="en-US" sz="1400" dirty="0">
              <a:latin typeface="Times New Roman" panose="02020603050405020304" pitchFamily="18" charset="0"/>
              <a:cs typeface="Times New Roman" panose="02020603050405020304" pitchFamily="18" charset="0"/>
            </a:endParaRPr>
          </a:p>
        </p:txBody>
      </p:sp>
      <p:sp>
        <p:nvSpPr>
          <p:cNvPr id="12" name="Shape 9"/>
          <p:cNvSpPr/>
          <p:nvPr/>
        </p:nvSpPr>
        <p:spPr>
          <a:xfrm>
            <a:off x="4160520" y="1737360"/>
            <a:ext cx="3383280" cy="3200400"/>
          </a:xfrm>
          <a:prstGeom prst="roundRect">
            <a:avLst>
              <a:gd name="adj" fmla="val 2857"/>
            </a:avLst>
          </a:prstGeom>
          <a:solidFill>
            <a:srgbClr val="FFFFFF"/>
          </a:solidFill>
          <a:ln w="12700">
            <a:solidFill>
              <a:srgbClr val="DCE2F2"/>
            </a:solidFill>
            <a:prstDash val="solid"/>
          </a:ln>
          <a:effectLst>
            <a:outerShdw blurRad="76200" dist="25400" dir="5400000" algn="bl" rotWithShape="0">
              <a:srgbClr val="1E2761">
                <a:alpha val="10000"/>
              </a:srgbClr>
            </a:outerShdw>
          </a:effectLst>
        </p:spPr>
      </p:sp>
      <p:sp>
        <p:nvSpPr>
          <p:cNvPr id="13" name="Shape 10"/>
          <p:cNvSpPr/>
          <p:nvPr/>
        </p:nvSpPr>
        <p:spPr>
          <a:xfrm>
            <a:off x="4389120" y="1993392"/>
            <a:ext cx="502920" cy="502920"/>
          </a:xfrm>
          <a:prstGeom prst="ellipse">
            <a:avLst/>
          </a:prstGeom>
          <a:solidFill>
            <a:srgbClr val="8A6D1F"/>
          </a:solidFill>
          <a:ln/>
        </p:spPr>
      </p:sp>
      <p:pic>
        <p:nvPicPr>
          <p:cNvPr id="14" name="Image 1" descr="icons/warning_white.png"/>
          <p:cNvPicPr>
            <a:picLocks noChangeAspect="1"/>
          </p:cNvPicPr>
          <p:nvPr/>
        </p:nvPicPr>
        <p:blipFill>
          <a:blip r:embed="rId4"/>
          <a:stretch>
            <a:fillRect/>
          </a:stretch>
        </p:blipFill>
        <p:spPr>
          <a:xfrm>
            <a:off x="4507992" y="2112264"/>
            <a:ext cx="274320" cy="274320"/>
          </a:xfrm>
          <a:prstGeom prst="rect">
            <a:avLst/>
          </a:prstGeom>
        </p:spPr>
      </p:pic>
      <p:sp>
        <p:nvSpPr>
          <p:cNvPr id="15" name="Text 11"/>
          <p:cNvSpPr/>
          <p:nvPr/>
        </p:nvSpPr>
        <p:spPr>
          <a:xfrm>
            <a:off x="5029200" y="2011680"/>
            <a:ext cx="23774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Challenges</a:t>
            </a:r>
            <a:endParaRPr lang="en-US" sz="1600" dirty="0"/>
          </a:p>
        </p:txBody>
      </p:sp>
      <p:sp>
        <p:nvSpPr>
          <p:cNvPr id="16" name="Text 12"/>
          <p:cNvSpPr/>
          <p:nvPr/>
        </p:nvSpPr>
        <p:spPr>
          <a:xfrm>
            <a:off x="4434840" y="2697480"/>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Imbalanced data</a:t>
            </a:r>
            <a:endParaRPr lang="en-US" sz="1400" dirty="0">
              <a:latin typeface="Times New Roman" panose="02020603050405020304" pitchFamily="18" charset="0"/>
              <a:cs typeface="Times New Roman" panose="02020603050405020304" pitchFamily="18" charset="0"/>
            </a:endParaRPr>
          </a:p>
        </p:txBody>
      </p:sp>
      <p:sp>
        <p:nvSpPr>
          <p:cNvPr id="17" name="Text 13"/>
          <p:cNvSpPr/>
          <p:nvPr/>
        </p:nvSpPr>
        <p:spPr>
          <a:xfrm>
            <a:off x="4434840" y="3209544"/>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Wrong predictions</a:t>
            </a:r>
            <a:endParaRPr lang="en-US" sz="1400" dirty="0">
              <a:latin typeface="Times New Roman" panose="02020603050405020304" pitchFamily="18" charset="0"/>
              <a:cs typeface="Times New Roman" panose="02020603050405020304" pitchFamily="18" charset="0"/>
            </a:endParaRPr>
          </a:p>
        </p:txBody>
      </p:sp>
      <p:sp>
        <p:nvSpPr>
          <p:cNvPr id="18" name="Text 14"/>
          <p:cNvSpPr/>
          <p:nvPr/>
        </p:nvSpPr>
        <p:spPr>
          <a:xfrm>
            <a:off x="4434840" y="3721608"/>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Model limits</a:t>
            </a:r>
            <a:endParaRPr lang="en-US" sz="1400" dirty="0">
              <a:latin typeface="Times New Roman" panose="02020603050405020304" pitchFamily="18" charset="0"/>
              <a:cs typeface="Times New Roman" panose="02020603050405020304" pitchFamily="18" charset="0"/>
            </a:endParaRPr>
          </a:p>
        </p:txBody>
      </p:sp>
      <p:sp>
        <p:nvSpPr>
          <p:cNvPr id="19" name="Text 15"/>
          <p:cNvSpPr/>
          <p:nvPr/>
        </p:nvSpPr>
        <p:spPr>
          <a:xfrm>
            <a:off x="4434840" y="4233672"/>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Poor data quality</a:t>
            </a:r>
            <a:endParaRPr lang="en-US" sz="1400" dirty="0">
              <a:latin typeface="Times New Roman" panose="02020603050405020304" pitchFamily="18" charset="0"/>
              <a:cs typeface="Times New Roman" panose="02020603050405020304" pitchFamily="18" charset="0"/>
            </a:endParaRPr>
          </a:p>
        </p:txBody>
      </p:sp>
      <p:sp>
        <p:nvSpPr>
          <p:cNvPr id="20" name="Shape 16"/>
          <p:cNvSpPr/>
          <p:nvPr/>
        </p:nvSpPr>
        <p:spPr>
          <a:xfrm>
            <a:off x="7772400" y="1737360"/>
            <a:ext cx="3383280" cy="3200400"/>
          </a:xfrm>
          <a:prstGeom prst="roundRect">
            <a:avLst>
              <a:gd name="adj" fmla="val 2857"/>
            </a:avLst>
          </a:prstGeom>
          <a:solidFill>
            <a:srgbClr val="FFFFFF"/>
          </a:solidFill>
          <a:ln w="12700">
            <a:solidFill>
              <a:srgbClr val="DCE2F2"/>
            </a:solidFill>
            <a:prstDash val="solid"/>
          </a:ln>
          <a:effectLst>
            <a:outerShdw blurRad="76200" dist="25400" dir="5400000" algn="bl" rotWithShape="0">
              <a:srgbClr val="1E2761">
                <a:alpha val="10000"/>
              </a:srgbClr>
            </a:outerShdw>
          </a:effectLst>
        </p:spPr>
      </p:sp>
      <p:sp>
        <p:nvSpPr>
          <p:cNvPr id="21" name="Shape 17"/>
          <p:cNvSpPr/>
          <p:nvPr/>
        </p:nvSpPr>
        <p:spPr>
          <a:xfrm>
            <a:off x="8001000" y="1993392"/>
            <a:ext cx="502920" cy="502920"/>
          </a:xfrm>
          <a:prstGeom prst="ellipse">
            <a:avLst/>
          </a:prstGeom>
          <a:solidFill>
            <a:srgbClr val="5B2E5E"/>
          </a:solidFill>
          <a:ln/>
        </p:spPr>
      </p:sp>
      <p:pic>
        <p:nvPicPr>
          <p:cNvPr id="22" name="Image 2" descr="icons/balance_white.png"/>
          <p:cNvPicPr>
            <a:picLocks noChangeAspect="1"/>
          </p:cNvPicPr>
          <p:nvPr/>
        </p:nvPicPr>
        <p:blipFill>
          <a:blip r:embed="rId5"/>
          <a:stretch>
            <a:fillRect/>
          </a:stretch>
        </p:blipFill>
        <p:spPr>
          <a:xfrm>
            <a:off x="8119872" y="2112264"/>
            <a:ext cx="274320" cy="274320"/>
          </a:xfrm>
          <a:prstGeom prst="rect">
            <a:avLst/>
          </a:prstGeom>
        </p:spPr>
      </p:pic>
      <p:sp>
        <p:nvSpPr>
          <p:cNvPr id="23" name="Text 18"/>
          <p:cNvSpPr/>
          <p:nvPr/>
        </p:nvSpPr>
        <p:spPr>
          <a:xfrm>
            <a:off x="8641080" y="2011680"/>
            <a:ext cx="23774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Ethics</a:t>
            </a:r>
            <a:endParaRPr lang="en-US" sz="1600" dirty="0"/>
          </a:p>
        </p:txBody>
      </p:sp>
      <p:sp>
        <p:nvSpPr>
          <p:cNvPr id="24" name="Text 19"/>
          <p:cNvSpPr/>
          <p:nvPr/>
        </p:nvSpPr>
        <p:spPr>
          <a:xfrm>
            <a:off x="8046720" y="2697480"/>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Privacy</a:t>
            </a:r>
            <a:endParaRPr lang="en-US" sz="1400" dirty="0">
              <a:latin typeface="Times New Roman" panose="02020603050405020304" pitchFamily="18" charset="0"/>
              <a:cs typeface="Times New Roman" panose="02020603050405020304" pitchFamily="18" charset="0"/>
            </a:endParaRPr>
          </a:p>
        </p:txBody>
      </p:sp>
      <p:sp>
        <p:nvSpPr>
          <p:cNvPr id="25" name="Text 20"/>
          <p:cNvSpPr/>
          <p:nvPr/>
        </p:nvSpPr>
        <p:spPr>
          <a:xfrm>
            <a:off x="8046720" y="3209544"/>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Fairness</a:t>
            </a:r>
            <a:endParaRPr lang="en-US" sz="1400" dirty="0">
              <a:latin typeface="Times New Roman" panose="02020603050405020304" pitchFamily="18" charset="0"/>
              <a:cs typeface="Times New Roman" panose="02020603050405020304" pitchFamily="18" charset="0"/>
            </a:endParaRPr>
          </a:p>
        </p:txBody>
      </p:sp>
      <p:sp>
        <p:nvSpPr>
          <p:cNvPr id="26" name="Text 21"/>
          <p:cNvSpPr/>
          <p:nvPr/>
        </p:nvSpPr>
        <p:spPr>
          <a:xfrm>
            <a:off x="8046720" y="3721608"/>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Transparency</a:t>
            </a:r>
            <a:endParaRPr lang="en-US" sz="1400" dirty="0">
              <a:latin typeface="Times New Roman" panose="02020603050405020304" pitchFamily="18" charset="0"/>
              <a:cs typeface="Times New Roman" panose="02020603050405020304" pitchFamily="18" charset="0"/>
            </a:endParaRPr>
          </a:p>
        </p:txBody>
      </p:sp>
      <p:sp>
        <p:nvSpPr>
          <p:cNvPr id="27" name="Text 22"/>
          <p:cNvSpPr/>
          <p:nvPr/>
        </p:nvSpPr>
        <p:spPr>
          <a:xfrm>
            <a:off x="8046720" y="4233672"/>
            <a:ext cx="2834640" cy="384048"/>
          </a:xfrm>
          <a:prstGeom prst="rect">
            <a:avLst/>
          </a:prstGeom>
          <a:noFill/>
          <a:ln/>
        </p:spPr>
        <p:txBody>
          <a:bodyPr wrap="square" rtlCol="0" anchor="ctr"/>
          <a:lstStyle/>
          <a:p>
            <a:pPr marL="0" indent="0">
              <a:buNone/>
            </a:pPr>
            <a:r>
              <a:rPr lang="en-US" sz="1400" dirty="0">
                <a:solidFill>
                  <a:srgbClr val="222222"/>
                </a:solidFill>
                <a:latin typeface="Times New Roman" panose="02020603050405020304" pitchFamily="18" charset="0"/>
                <a:ea typeface="Calibri" pitchFamily="34" charset="-122"/>
                <a:cs typeface="Times New Roman" panose="02020603050405020304" pitchFamily="18" charset="0"/>
              </a:rPr>
              <a:t>•  Responsible use</a:t>
            </a:r>
            <a:endParaRPr lang="en-US" sz="1400" dirty="0">
              <a:latin typeface="Times New Roman" panose="02020603050405020304" pitchFamily="18" charset="0"/>
              <a:cs typeface="Times New Roman" panose="02020603050405020304" pitchFamily="18" charset="0"/>
            </a:endParaRPr>
          </a:p>
        </p:txBody>
      </p:sp>
      <p:sp>
        <p:nvSpPr>
          <p:cNvPr id="28" name="Text 23"/>
          <p:cNvSpPr/>
          <p:nvPr/>
        </p:nvSpPr>
        <p:spPr>
          <a:xfrm>
            <a:off x="548640" y="5120640"/>
            <a:ext cx="10789920" cy="1005840"/>
          </a:xfrm>
          <a:prstGeom prst="rect">
            <a:avLst/>
          </a:prstGeom>
          <a:noFill/>
          <a:ln/>
        </p:spPr>
        <p:txBody>
          <a:bodyPr wrap="square" rtlCol="0" anchor="ctr"/>
          <a:lstStyle/>
          <a:p>
            <a:pPr marL="0" indent="0">
              <a:lnSpc>
                <a:spcPct val="125000"/>
              </a:lnSpc>
              <a:buNone/>
            </a:pPr>
            <a:r>
              <a:rPr lang="en-US" sz="1400" b="1" dirty="0">
                <a:solidFill>
                  <a:srgbClr val="1E2761"/>
                </a:solidFill>
                <a:latin typeface="Times New Roman" panose="02020603050405020304" pitchFamily="18" charset="0"/>
                <a:ea typeface="Calibri" pitchFamily="34" charset="-122"/>
                <a:cs typeface="Times New Roman" panose="02020603050405020304" pitchFamily="18" charset="0"/>
              </a:rPr>
              <a:t>Key insight: </a:t>
            </a:r>
            <a:r>
              <a:rPr lang="en-GB" sz="1400" dirty="0">
                <a:latin typeface="Times New Roman" panose="02020603050405020304" pitchFamily="18" charset="0"/>
                <a:cs typeface="Times New Roman" panose="02020603050405020304" pitchFamily="18" charset="0"/>
              </a:rPr>
              <a:t>Class imbalance can make accuracy misleading. Biased data can also create biased predictions, so fairness and human oversight are important.</a:t>
            </a:r>
            <a:endParaRPr lang="en-US" sz="1400" dirty="0">
              <a:latin typeface="Times New Roman" panose="02020603050405020304" pitchFamily="18" charset="0"/>
              <a:cs typeface="Times New Roman" panose="02020603050405020304" pitchFamily="18" charset="0"/>
            </a:endParaRPr>
          </a:p>
        </p:txBody>
      </p:sp>
      <p:sp>
        <p:nvSpPr>
          <p:cNvPr id="30" name="Text 24"/>
          <p:cNvSpPr/>
          <p:nvPr/>
        </p:nvSpPr>
        <p:spPr>
          <a:xfrm>
            <a:off x="457200" y="6446520"/>
            <a:ext cx="7315200" cy="274320"/>
          </a:xfrm>
          <a:prstGeom prst="rect">
            <a:avLst/>
          </a:prstGeom>
          <a:noFill/>
          <a:ln/>
        </p:spPr>
        <p:txBody>
          <a:bodyPr wrap="square" rtlCol="0" anchor="ctr"/>
          <a:lstStyle/>
          <a:p>
            <a:pPr marL="0" indent="0" algn="l">
              <a:buNone/>
            </a:pPr>
            <a:r>
              <a:rPr lang="en-US" sz="1000" dirty="0">
                <a:solidFill>
                  <a:srgbClr val="9AA6C4"/>
                </a:solidFill>
                <a:latin typeface="Calibri" pitchFamily="34" charset="0"/>
                <a:ea typeface="Calibri" pitchFamily="34" charset="-122"/>
                <a:cs typeface="Calibri" pitchFamily="34" charset="-120"/>
              </a:rPr>
              <a:t>Part B  |  Machine Learning in Financial Analytics</a:t>
            </a:r>
            <a:endParaRPr lang="en-US" sz="1000" dirty="0"/>
          </a:p>
        </p:txBody>
      </p:sp>
      <p:sp>
        <p:nvSpPr>
          <p:cNvPr id="31" name="Text 25"/>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9AA6C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nvSpPr>
        <p:spPr>
          <a:xfrm>
            <a:off x="777240" y="640080"/>
            <a:ext cx="3657600" cy="32004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SLIDE 8  ·  WRAPPING UP</a:t>
            </a:r>
            <a:endParaRPr lang="en-US" sz="1200" dirty="0"/>
          </a:p>
        </p:txBody>
      </p:sp>
      <p:sp>
        <p:nvSpPr>
          <p:cNvPr id="4" name="Text 2"/>
          <p:cNvSpPr/>
          <p:nvPr/>
        </p:nvSpPr>
        <p:spPr>
          <a:xfrm>
            <a:off x="777240" y="1005840"/>
            <a:ext cx="1005840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and Recommendation</a:t>
            </a:r>
            <a:endParaRPr lang="en-US" sz="3200" dirty="0"/>
          </a:p>
        </p:txBody>
      </p:sp>
      <p:pic>
        <p:nvPicPr>
          <p:cNvPr id="5" name="Image 0" descr="icons/check_gold.png"/>
          <p:cNvPicPr>
            <a:picLocks noChangeAspect="1"/>
          </p:cNvPicPr>
          <p:nvPr/>
        </p:nvPicPr>
        <p:blipFill>
          <a:blip r:embed="rId3"/>
          <a:stretch>
            <a:fillRect/>
          </a:stretch>
        </p:blipFill>
        <p:spPr>
          <a:xfrm>
            <a:off x="822960" y="1947672"/>
            <a:ext cx="292608" cy="292608"/>
          </a:xfrm>
          <a:prstGeom prst="rect">
            <a:avLst/>
          </a:prstGeom>
        </p:spPr>
      </p:pic>
      <p:sp>
        <p:nvSpPr>
          <p:cNvPr id="6" name="Text 3"/>
          <p:cNvSpPr/>
          <p:nvPr/>
        </p:nvSpPr>
        <p:spPr>
          <a:xfrm>
            <a:off x="1280160" y="1874520"/>
            <a:ext cx="6035040" cy="45720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Machine learning supports smart decisions in finance</a:t>
            </a:r>
            <a:endParaRPr lang="en-US" sz="1450" dirty="0">
              <a:latin typeface="Times New Roman" panose="02020603050405020304" pitchFamily="18" charset="0"/>
              <a:cs typeface="Times New Roman" panose="02020603050405020304" pitchFamily="18" charset="0"/>
            </a:endParaRPr>
          </a:p>
        </p:txBody>
      </p:sp>
      <p:pic>
        <p:nvPicPr>
          <p:cNvPr id="7" name="Image 1" descr="icons/check_gold.png"/>
          <p:cNvPicPr>
            <a:picLocks noChangeAspect="1"/>
          </p:cNvPicPr>
          <p:nvPr/>
        </p:nvPicPr>
        <p:blipFill>
          <a:blip r:embed="rId3"/>
          <a:stretch>
            <a:fillRect/>
          </a:stretch>
        </p:blipFill>
        <p:spPr>
          <a:xfrm>
            <a:off x="822960" y="2514600"/>
            <a:ext cx="292608" cy="292608"/>
          </a:xfrm>
          <a:prstGeom prst="rect">
            <a:avLst/>
          </a:prstGeom>
        </p:spPr>
      </p:pic>
      <p:sp>
        <p:nvSpPr>
          <p:cNvPr id="8" name="Text 4"/>
          <p:cNvSpPr/>
          <p:nvPr/>
        </p:nvSpPr>
        <p:spPr>
          <a:xfrm>
            <a:off x="1280160" y="2441448"/>
            <a:ext cx="6035040" cy="45720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The bank experiment showed strong class imbalance</a:t>
            </a:r>
            <a:endParaRPr lang="en-US" sz="1450" dirty="0">
              <a:latin typeface="Times New Roman" panose="02020603050405020304" pitchFamily="18" charset="0"/>
              <a:cs typeface="Times New Roman" panose="02020603050405020304" pitchFamily="18" charset="0"/>
            </a:endParaRPr>
          </a:p>
        </p:txBody>
      </p:sp>
      <p:pic>
        <p:nvPicPr>
          <p:cNvPr id="9" name="Image 2" descr="icons/check_gold.png"/>
          <p:cNvPicPr>
            <a:picLocks noChangeAspect="1"/>
          </p:cNvPicPr>
          <p:nvPr/>
        </p:nvPicPr>
        <p:blipFill>
          <a:blip r:embed="rId3"/>
          <a:stretch>
            <a:fillRect/>
          </a:stretch>
        </p:blipFill>
        <p:spPr>
          <a:xfrm>
            <a:off x="822960" y="3081528"/>
            <a:ext cx="292608" cy="292608"/>
          </a:xfrm>
          <a:prstGeom prst="rect">
            <a:avLst/>
          </a:prstGeom>
        </p:spPr>
      </p:pic>
      <p:sp>
        <p:nvSpPr>
          <p:cNvPr id="10" name="Text 5"/>
          <p:cNvSpPr/>
          <p:nvPr/>
        </p:nvSpPr>
        <p:spPr>
          <a:xfrm>
            <a:off x="1280160" y="3008376"/>
            <a:ext cx="6035040" cy="45720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Logistic Regression performed better at finding real subscribers</a:t>
            </a:r>
            <a:endParaRPr lang="en-US" sz="1450" dirty="0">
              <a:latin typeface="Times New Roman" panose="02020603050405020304" pitchFamily="18" charset="0"/>
              <a:cs typeface="Times New Roman" panose="02020603050405020304" pitchFamily="18" charset="0"/>
            </a:endParaRPr>
          </a:p>
        </p:txBody>
      </p:sp>
      <p:pic>
        <p:nvPicPr>
          <p:cNvPr id="11" name="Image 3" descr="icons/check_gold.png"/>
          <p:cNvPicPr>
            <a:picLocks noChangeAspect="1"/>
          </p:cNvPicPr>
          <p:nvPr/>
        </p:nvPicPr>
        <p:blipFill>
          <a:blip r:embed="rId3"/>
          <a:stretch>
            <a:fillRect/>
          </a:stretch>
        </p:blipFill>
        <p:spPr>
          <a:xfrm>
            <a:off x="822960" y="3648456"/>
            <a:ext cx="292608" cy="292608"/>
          </a:xfrm>
          <a:prstGeom prst="rect">
            <a:avLst/>
          </a:prstGeom>
        </p:spPr>
      </p:pic>
      <p:sp>
        <p:nvSpPr>
          <p:cNvPr id="12" name="Text 6"/>
          <p:cNvSpPr/>
          <p:nvPr/>
        </p:nvSpPr>
        <p:spPr>
          <a:xfrm>
            <a:off x="1280160" y="3575304"/>
            <a:ext cx="6035040" cy="45720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Accuracy alone was not enough to judge the models</a:t>
            </a:r>
            <a:endParaRPr lang="en-US" sz="1450" dirty="0">
              <a:latin typeface="Times New Roman" panose="02020603050405020304" pitchFamily="18" charset="0"/>
              <a:cs typeface="Times New Roman" panose="02020603050405020304" pitchFamily="18" charset="0"/>
            </a:endParaRPr>
          </a:p>
        </p:txBody>
      </p:sp>
      <p:pic>
        <p:nvPicPr>
          <p:cNvPr id="13" name="Image 4" descr="icons/check_gold.png"/>
          <p:cNvPicPr>
            <a:picLocks noChangeAspect="1"/>
          </p:cNvPicPr>
          <p:nvPr/>
        </p:nvPicPr>
        <p:blipFill>
          <a:blip r:embed="rId3"/>
          <a:stretch>
            <a:fillRect/>
          </a:stretch>
        </p:blipFill>
        <p:spPr>
          <a:xfrm>
            <a:off x="822960" y="4215384"/>
            <a:ext cx="292608" cy="292608"/>
          </a:xfrm>
          <a:prstGeom prst="rect">
            <a:avLst/>
          </a:prstGeom>
        </p:spPr>
      </p:pic>
      <p:sp>
        <p:nvSpPr>
          <p:cNvPr id="14" name="Text 7"/>
          <p:cNvSpPr/>
          <p:nvPr/>
        </p:nvSpPr>
        <p:spPr>
          <a:xfrm>
            <a:off x="1280160" y="4142232"/>
            <a:ext cx="6035040" cy="45720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More testing and tuning is still needed</a:t>
            </a:r>
            <a:endParaRPr lang="en-US" sz="1450" dirty="0">
              <a:latin typeface="Times New Roman" panose="02020603050405020304" pitchFamily="18" charset="0"/>
              <a:cs typeface="Times New Roman" panose="02020603050405020304" pitchFamily="18" charset="0"/>
            </a:endParaRPr>
          </a:p>
        </p:txBody>
      </p:sp>
      <p:sp>
        <p:nvSpPr>
          <p:cNvPr id="15" name="Shape 8"/>
          <p:cNvSpPr/>
          <p:nvPr/>
        </p:nvSpPr>
        <p:spPr>
          <a:xfrm>
            <a:off x="777240" y="4983480"/>
            <a:ext cx="6583680" cy="1554480"/>
          </a:xfrm>
          <a:prstGeom prst="roundRect">
            <a:avLst>
              <a:gd name="adj" fmla="val 5882"/>
            </a:avLst>
          </a:prstGeom>
          <a:solidFill>
            <a:srgbClr val="2A3A80"/>
          </a:solidFill>
          <a:ln/>
        </p:spPr>
      </p:sp>
      <p:sp>
        <p:nvSpPr>
          <p:cNvPr id="16" name="Text 9"/>
          <p:cNvSpPr/>
          <p:nvPr/>
        </p:nvSpPr>
        <p:spPr>
          <a:xfrm>
            <a:off x="1051560" y="4983480"/>
            <a:ext cx="6035040" cy="1554480"/>
          </a:xfrm>
          <a:prstGeom prst="rect">
            <a:avLst/>
          </a:prstGeom>
          <a:noFill/>
          <a:ln/>
        </p:spPr>
        <p:txBody>
          <a:bodyPr wrap="square" rtlCol="0" anchor="ctr"/>
          <a:lstStyle/>
          <a:p>
            <a:pPr marL="0" indent="0">
              <a:lnSpc>
                <a:spcPct val="125000"/>
              </a:lnSpc>
              <a:buNone/>
            </a:pPr>
            <a:r>
              <a:rPr lang="en-US" sz="1600" b="1" dirty="0">
                <a:solidFill>
                  <a:srgbClr val="C9A227"/>
                </a:solidFill>
                <a:latin typeface="Times New Roman" panose="02020603050405020304" pitchFamily="18" charset="0"/>
                <a:ea typeface="Calibri" pitchFamily="34" charset="-122"/>
                <a:cs typeface="Times New Roman" panose="02020603050405020304" pitchFamily="18" charset="0"/>
              </a:rPr>
              <a:t>Main lesson:  </a:t>
            </a: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the best model is not the one with the highest accuracy. It is the one that meets the real business goal - while being fair, clear and responsible.</a:t>
            </a:r>
            <a:endParaRPr lang="en-US" sz="1600" dirty="0">
              <a:latin typeface="Times New Roman" panose="02020603050405020304" pitchFamily="18" charset="0"/>
              <a:cs typeface="Times New Roman" panose="02020603050405020304" pitchFamily="18" charset="0"/>
            </a:endParaRPr>
          </a:p>
        </p:txBody>
      </p:sp>
      <p:sp>
        <p:nvSpPr>
          <p:cNvPr id="17" name="Shape 10"/>
          <p:cNvSpPr/>
          <p:nvPr/>
        </p:nvSpPr>
        <p:spPr>
          <a:xfrm>
            <a:off x="7863840" y="1920240"/>
            <a:ext cx="3566160" cy="4206240"/>
          </a:xfrm>
          <a:prstGeom prst="roundRect">
            <a:avLst>
              <a:gd name="adj" fmla="val 3077"/>
            </a:avLst>
          </a:prstGeom>
          <a:solidFill>
            <a:srgbClr val="FFFFFF"/>
          </a:solidFill>
          <a:ln/>
        </p:spPr>
      </p:sp>
      <p:sp>
        <p:nvSpPr>
          <p:cNvPr id="18" name="Text 11"/>
          <p:cNvSpPr/>
          <p:nvPr/>
        </p:nvSpPr>
        <p:spPr>
          <a:xfrm>
            <a:off x="8138160" y="2148840"/>
            <a:ext cx="3017520" cy="320040"/>
          </a:xfrm>
          <a:prstGeom prst="rect">
            <a:avLst/>
          </a:prstGeom>
          <a:noFill/>
          <a:ln/>
        </p:spPr>
        <p:txBody>
          <a:bodyPr wrap="square" rtlCol="0" anchor="ctr"/>
          <a:lstStyle/>
          <a:p>
            <a:pPr marL="0" indent="0">
              <a:buNone/>
            </a:pPr>
            <a:r>
              <a:rPr lang="en-US" sz="1200" b="1" kern="0" spc="100" dirty="0">
                <a:solidFill>
                  <a:srgbClr val="3A4B8C"/>
                </a:solidFill>
                <a:latin typeface="Calibri" pitchFamily="34" charset="0"/>
                <a:ea typeface="Calibri" pitchFamily="34" charset="-122"/>
                <a:cs typeface="Calibri" pitchFamily="34" charset="-120"/>
              </a:rPr>
              <a:t>RESULT RECAP</a:t>
            </a:r>
            <a:endParaRPr lang="en-US" sz="1200" dirty="0"/>
          </a:p>
        </p:txBody>
      </p:sp>
      <p:sp>
        <p:nvSpPr>
          <p:cNvPr id="19" name="Text 12"/>
          <p:cNvSpPr/>
          <p:nvPr/>
        </p:nvSpPr>
        <p:spPr>
          <a:xfrm>
            <a:off x="8138160" y="2514600"/>
            <a:ext cx="3017520" cy="640080"/>
          </a:xfrm>
          <a:prstGeom prst="rect">
            <a:avLst/>
          </a:prstGeom>
          <a:noFill/>
          <a:ln/>
        </p:spPr>
        <p:txBody>
          <a:bodyPr wrap="square" rtlCol="0" anchor="ctr"/>
          <a:lstStyle/>
          <a:p>
            <a:pPr marL="0" indent="0" algn="ctr">
              <a:buNone/>
            </a:pPr>
            <a:r>
              <a:rPr lang="en-US" sz="3400" b="1" dirty="0">
                <a:solidFill>
                  <a:srgbClr val="1E2761"/>
                </a:solidFill>
                <a:latin typeface="Calibri" pitchFamily="34" charset="0"/>
                <a:ea typeface="Calibri" pitchFamily="34" charset="-122"/>
                <a:cs typeface="Calibri" pitchFamily="34" charset="-120"/>
              </a:rPr>
              <a:t>27%</a:t>
            </a:r>
            <a:endParaRPr lang="en-US" sz="3400" dirty="0"/>
          </a:p>
        </p:txBody>
      </p:sp>
      <p:sp>
        <p:nvSpPr>
          <p:cNvPr id="20" name="Text 13"/>
          <p:cNvSpPr/>
          <p:nvPr/>
        </p:nvSpPr>
        <p:spPr>
          <a:xfrm>
            <a:off x="8138160" y="3154680"/>
            <a:ext cx="3017520" cy="365760"/>
          </a:xfrm>
          <a:prstGeom prst="rect">
            <a:avLst/>
          </a:prstGeom>
          <a:noFill/>
          <a:ln/>
        </p:spPr>
        <p:txBody>
          <a:bodyPr wrap="square" rtlCol="0" anchor="ctr"/>
          <a:lstStyle/>
          <a:p>
            <a:pPr marL="0" indent="0" algn="ctr">
              <a:buNone/>
            </a:pPr>
            <a:r>
              <a:rPr lang="en-US" sz="1200" dirty="0">
                <a:solidFill>
                  <a:srgbClr val="5B6B8C"/>
                </a:solidFill>
                <a:latin typeface="Times New Roman" panose="02020603050405020304" pitchFamily="18" charset="0"/>
                <a:ea typeface="Calibri" pitchFamily="34" charset="-122"/>
                <a:cs typeface="Times New Roman" panose="02020603050405020304" pitchFamily="18" charset="0"/>
              </a:rPr>
              <a:t>Logistic Regression recall</a:t>
            </a:r>
            <a:endParaRPr lang="en-US" sz="1200" dirty="0">
              <a:latin typeface="Times New Roman" panose="02020603050405020304" pitchFamily="18" charset="0"/>
              <a:cs typeface="Times New Roman" panose="02020603050405020304" pitchFamily="18" charset="0"/>
            </a:endParaRPr>
          </a:p>
        </p:txBody>
      </p:sp>
      <p:sp>
        <p:nvSpPr>
          <p:cNvPr id="21" name="Shape 14"/>
          <p:cNvSpPr/>
          <p:nvPr/>
        </p:nvSpPr>
        <p:spPr>
          <a:xfrm>
            <a:off x="8138160" y="3657600"/>
            <a:ext cx="3017520" cy="0"/>
          </a:xfrm>
          <a:prstGeom prst="line">
            <a:avLst/>
          </a:prstGeom>
          <a:noFill/>
          <a:ln w="12700">
            <a:solidFill>
              <a:srgbClr val="E4E8F5"/>
            </a:solidFill>
            <a:prstDash val="solid"/>
          </a:ln>
        </p:spPr>
      </p:sp>
      <p:sp>
        <p:nvSpPr>
          <p:cNvPr id="22" name="Text 15"/>
          <p:cNvSpPr/>
          <p:nvPr/>
        </p:nvSpPr>
        <p:spPr>
          <a:xfrm>
            <a:off x="8138160" y="3794760"/>
            <a:ext cx="3017520" cy="640080"/>
          </a:xfrm>
          <a:prstGeom prst="rect">
            <a:avLst/>
          </a:prstGeom>
          <a:noFill/>
          <a:ln/>
        </p:spPr>
        <p:txBody>
          <a:bodyPr wrap="square" rtlCol="0" anchor="ctr"/>
          <a:lstStyle/>
          <a:p>
            <a:pPr marL="0" indent="0" algn="ctr">
              <a:buNone/>
            </a:pPr>
            <a:r>
              <a:rPr lang="en-US" sz="3400" b="1" dirty="0">
                <a:solidFill>
                  <a:srgbClr val="8A7318"/>
                </a:solidFill>
                <a:latin typeface="Calibri" pitchFamily="34" charset="0"/>
                <a:ea typeface="Calibri" pitchFamily="34" charset="-122"/>
                <a:cs typeface="Calibri" pitchFamily="34" charset="-120"/>
              </a:rPr>
              <a:t>1%</a:t>
            </a:r>
            <a:endParaRPr lang="en-US" sz="3400" dirty="0"/>
          </a:p>
        </p:txBody>
      </p:sp>
      <p:sp>
        <p:nvSpPr>
          <p:cNvPr id="23" name="Text 16"/>
          <p:cNvSpPr/>
          <p:nvPr/>
        </p:nvSpPr>
        <p:spPr>
          <a:xfrm>
            <a:off x="8138160" y="4434840"/>
            <a:ext cx="3017520" cy="365760"/>
          </a:xfrm>
          <a:prstGeom prst="rect">
            <a:avLst/>
          </a:prstGeom>
          <a:noFill/>
          <a:ln/>
        </p:spPr>
        <p:txBody>
          <a:bodyPr wrap="square" rtlCol="0" anchor="ctr"/>
          <a:lstStyle/>
          <a:p>
            <a:pPr marL="0" indent="0" algn="ctr">
              <a:buNone/>
            </a:pPr>
            <a:r>
              <a:rPr lang="en-US" sz="1200" dirty="0">
                <a:solidFill>
                  <a:srgbClr val="5B6B8C"/>
                </a:solidFill>
                <a:latin typeface="Times New Roman" panose="02020603050405020304" pitchFamily="18" charset="0"/>
                <a:ea typeface="Calibri" pitchFamily="34" charset="-122"/>
                <a:cs typeface="Times New Roman" panose="02020603050405020304" pitchFamily="18" charset="0"/>
              </a:rPr>
              <a:t>Decision Tree recall</a:t>
            </a:r>
            <a:endParaRPr lang="en-US" sz="1200" dirty="0">
              <a:latin typeface="Times New Roman" panose="02020603050405020304" pitchFamily="18" charset="0"/>
              <a:cs typeface="Times New Roman" panose="02020603050405020304" pitchFamily="18" charset="0"/>
            </a:endParaRPr>
          </a:p>
        </p:txBody>
      </p:sp>
      <p:sp>
        <p:nvSpPr>
          <p:cNvPr id="24" name="Shape 17"/>
          <p:cNvSpPr/>
          <p:nvPr/>
        </p:nvSpPr>
        <p:spPr>
          <a:xfrm>
            <a:off x="8138160" y="4937760"/>
            <a:ext cx="3017520" cy="0"/>
          </a:xfrm>
          <a:prstGeom prst="line">
            <a:avLst/>
          </a:prstGeom>
          <a:noFill/>
          <a:ln w="12700">
            <a:solidFill>
              <a:srgbClr val="E4E8F5"/>
            </a:solidFill>
            <a:prstDash val="solid"/>
          </a:ln>
        </p:spPr>
      </p:sp>
      <p:sp>
        <p:nvSpPr>
          <p:cNvPr id="25" name="Text 18"/>
          <p:cNvSpPr/>
          <p:nvPr/>
        </p:nvSpPr>
        <p:spPr>
          <a:xfrm>
            <a:off x="8138160" y="5074920"/>
            <a:ext cx="3017520" cy="822960"/>
          </a:xfrm>
          <a:prstGeom prst="rect">
            <a:avLst/>
          </a:prstGeom>
          <a:noFill/>
          <a:ln/>
        </p:spPr>
        <p:txBody>
          <a:bodyPr wrap="square" rtlCol="0" anchor="ctr"/>
          <a:lstStyle/>
          <a:p>
            <a:pPr marL="0" indent="0">
              <a:lnSpc>
                <a:spcPct val="120000"/>
              </a:lnSpc>
              <a:buNone/>
            </a:pPr>
            <a:r>
              <a:rPr lang="en-US" sz="1100" i="1" dirty="0">
                <a:solidFill>
                  <a:srgbClr val="5B6B8C"/>
                </a:solidFill>
                <a:latin typeface="Times New Roman" panose="02020603050405020304" pitchFamily="18" charset="0"/>
                <a:ea typeface="Calibri" pitchFamily="34" charset="-122"/>
                <a:cs typeface="Times New Roman" panose="02020603050405020304" pitchFamily="18" charset="0"/>
              </a:rPr>
              <a:t>Next steps: class weighting, tuning, more algorithms</a:t>
            </a:r>
            <a:endParaRPr lang="en-US" sz="1100" dirty="0">
              <a:latin typeface="Times New Roman" panose="02020603050405020304" pitchFamily="18" charset="0"/>
              <a:cs typeface="Times New Roman" panose="02020603050405020304" pitchFamily="18" charset="0"/>
            </a:endParaRPr>
          </a:p>
        </p:txBody>
      </p:sp>
      <p:sp>
        <p:nvSpPr>
          <p:cNvPr id="27" name="Text 19"/>
          <p:cNvSpPr/>
          <p:nvPr/>
        </p:nvSpPr>
        <p:spPr>
          <a:xfrm>
            <a:off x="457505" y="6547104"/>
            <a:ext cx="7315200" cy="274320"/>
          </a:xfrm>
          <a:prstGeom prst="rect">
            <a:avLst/>
          </a:prstGeom>
          <a:noFill/>
          <a:ln/>
        </p:spPr>
        <p:txBody>
          <a:bodyPr wrap="square" rtlCol="0" anchor="ctr"/>
          <a:lstStyle/>
          <a:p>
            <a:pPr marL="0" indent="0" algn="l">
              <a:buNone/>
            </a:pPr>
            <a:r>
              <a:rPr lang="en-US" sz="1000" dirty="0">
                <a:solidFill>
                  <a:srgbClr val="8894BE"/>
                </a:solidFill>
                <a:latin typeface="Calibri" pitchFamily="34" charset="0"/>
                <a:ea typeface="Calibri" pitchFamily="34" charset="-122"/>
                <a:cs typeface="Calibri" pitchFamily="34" charset="-120"/>
              </a:rPr>
              <a:t>Part B  |  Machine Learning in Financial Analytics</a:t>
            </a:r>
            <a:endParaRPr lang="en-US" sz="1000" dirty="0"/>
          </a:p>
        </p:txBody>
      </p:sp>
      <p:sp>
        <p:nvSpPr>
          <p:cNvPr id="28" name="Text 20"/>
          <p:cNvSpPr/>
          <p:nvPr/>
        </p:nvSpPr>
        <p:spPr>
          <a:xfrm>
            <a:off x="11277295" y="6446520"/>
            <a:ext cx="457200" cy="274320"/>
          </a:xfrm>
          <a:prstGeom prst="rect">
            <a:avLst/>
          </a:prstGeom>
          <a:noFill/>
          <a:ln/>
        </p:spPr>
        <p:txBody>
          <a:bodyPr wrap="square" rtlCol="0" anchor="ctr"/>
          <a:lstStyle/>
          <a:p>
            <a:pPr marL="0" indent="0" algn="r">
              <a:buNone/>
            </a:pPr>
            <a:r>
              <a:rPr lang="en-US" sz="1000" dirty="0">
                <a:solidFill>
                  <a:srgbClr val="8894B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troduction to machine learning | Business, marketing &amp; technology course  | London | City Lit">
            <a:extLst>
              <a:ext uri="{FF2B5EF4-FFF2-40B4-BE49-F238E27FC236}">
                <a16:creationId xmlns:a16="http://schemas.microsoft.com/office/drawing/2014/main" id="{7BDF841F-B164-4F29-A45F-2E24876F4737}"/>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7473420" y="0"/>
            <a:ext cx="471858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Explosion: 8 Points 1">
            <a:extLst>
              <a:ext uri="{FF2B5EF4-FFF2-40B4-BE49-F238E27FC236}">
                <a16:creationId xmlns:a16="http://schemas.microsoft.com/office/drawing/2014/main" id="{4F6B0E7F-DA76-4746-A45D-C9D95FD0DE01}"/>
              </a:ext>
            </a:extLst>
          </p:cNvPr>
          <p:cNvSpPr/>
          <p:nvPr/>
        </p:nvSpPr>
        <p:spPr>
          <a:xfrm>
            <a:off x="-451901" y="995082"/>
            <a:ext cx="6678706" cy="4867836"/>
          </a:xfrm>
          <a:prstGeom prst="irregularSeal1">
            <a:avLst/>
          </a:prstGeom>
          <a:solidFill>
            <a:schemeClr val="accent1">
              <a:lumMod val="75000"/>
            </a:schemeClr>
          </a:solid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n w="0"/>
              <a:solidFill>
                <a:schemeClr val="accent1"/>
              </a:solidFill>
              <a:effectLst>
                <a:outerShdw blurRad="38100" dist="25400" dir="5400000" algn="ctr" rotWithShape="0">
                  <a:srgbClr val="6E747A">
                    <a:alpha val="43000"/>
                  </a:srgbClr>
                </a:outerShdw>
              </a:effectLst>
            </a:endParaRPr>
          </a:p>
        </p:txBody>
      </p:sp>
      <p:sp>
        <p:nvSpPr>
          <p:cNvPr id="6" name="TextBox 5">
            <a:extLst>
              <a:ext uri="{FF2B5EF4-FFF2-40B4-BE49-F238E27FC236}">
                <a16:creationId xmlns:a16="http://schemas.microsoft.com/office/drawing/2014/main" id="{4C7C057B-A157-42B2-86DC-6F59281D599C}"/>
              </a:ext>
            </a:extLst>
          </p:cNvPr>
          <p:cNvSpPr txBox="1"/>
          <p:nvPr/>
        </p:nvSpPr>
        <p:spPr>
          <a:xfrm flipH="1">
            <a:off x="1445659" y="2895798"/>
            <a:ext cx="3535236" cy="769441"/>
          </a:xfrm>
          <a:prstGeom prst="rect">
            <a:avLst/>
          </a:prstGeom>
          <a:noFill/>
        </p:spPr>
        <p:txBody>
          <a:bodyPr wrap="square" rtlCol="0">
            <a:spAutoFit/>
          </a:bodyPr>
          <a:lstStyle/>
          <a:p>
            <a:r>
              <a:rPr lang="en-US" sz="4400" dirty="0">
                <a:solidFill>
                  <a:schemeClr val="accent1">
                    <a:lumMod val="20000"/>
                    <a:lumOff val="80000"/>
                  </a:schemeClr>
                </a:solidFill>
                <a:latin typeface="Algerian" panose="04020705040A02060702" pitchFamily="82" charset="0"/>
              </a:rPr>
              <a:t>Thank You!</a:t>
            </a:r>
            <a:endParaRPr lang="en-GB" sz="4400" dirty="0">
              <a:solidFill>
                <a:schemeClr val="accent1">
                  <a:lumMod val="20000"/>
                  <a:lumOff val="80000"/>
                </a:schemeClr>
              </a:solidFill>
              <a:latin typeface="Algerian" panose="04020705040A02060702" pitchFamily="82" charset="0"/>
            </a:endParaRPr>
          </a:p>
        </p:txBody>
      </p:sp>
    </p:spTree>
    <p:extLst>
      <p:ext uri="{BB962C8B-B14F-4D97-AF65-F5344CB8AC3E}">
        <p14:creationId xmlns:p14="http://schemas.microsoft.com/office/powerpoint/2010/main" val="21008842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1244</TotalTime>
  <Words>1865</Words>
  <Application>Microsoft Office PowerPoint</Application>
  <PresentationFormat>Widescreen</PresentationFormat>
  <Paragraphs>161</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Algerian</vt:lpstr>
      <vt:lpstr>Arial</vt:lpstr>
      <vt:lpstr>Arial Rounded MT Bold</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Afry Nizam</cp:lastModifiedBy>
  <cp:revision>27</cp:revision>
  <dcterms:created xsi:type="dcterms:W3CDTF">2026-09-19T11:33:02Z</dcterms:created>
  <dcterms:modified xsi:type="dcterms:W3CDTF">2026-10-15T02:45:48Z</dcterms:modified>
</cp:coreProperties>
</file>